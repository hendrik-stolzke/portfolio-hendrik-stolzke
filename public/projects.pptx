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74" r:id="rId4"/>
    <p:sldId id="272" r:id="rId5"/>
    <p:sldId id="271" r:id="rId6"/>
    <p:sldId id="266" r:id="rId7"/>
    <p:sldId id="268" r:id="rId8"/>
    <p:sldId id="267" r:id="rId9"/>
    <p:sldId id="269" r:id="rId10"/>
    <p:sldId id="258" r:id="rId11"/>
    <p:sldId id="260" r:id="rId12"/>
    <p:sldId id="261" r:id="rId13"/>
    <p:sldId id="262" r:id="rId14"/>
    <p:sldId id="263" r:id="rId15"/>
    <p:sldId id="265" r:id="rId1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900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83222-83DA-4016-99AF-EFFE468B503C}" type="datetimeFigureOut">
              <a:rPr lang="de-DE" smtClean="0"/>
              <a:t>14.08.2026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1B094-87F5-4D3B-A35E-A83B15450D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812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1B094-87F5-4D3B-A35E-A83B15450D8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4668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326379" y="1667255"/>
            <a:ext cx="3104515" cy="1057910"/>
          </a:xfrm>
          <a:custGeom>
            <a:avLst/>
            <a:gdLst/>
            <a:ahLst/>
            <a:cxnLst/>
            <a:rect l="l" t="t" r="r" b="b"/>
            <a:pathLst>
              <a:path w="3104515" h="1057910">
                <a:moveTo>
                  <a:pt x="3104387" y="0"/>
                </a:moveTo>
                <a:lnTo>
                  <a:pt x="0" y="0"/>
                </a:lnTo>
                <a:lnTo>
                  <a:pt x="0" y="1057656"/>
                </a:lnTo>
                <a:lnTo>
                  <a:pt x="3104387" y="1057656"/>
                </a:lnTo>
                <a:lnTo>
                  <a:pt x="3104387" y="0"/>
                </a:lnTo>
                <a:close/>
              </a:path>
            </a:pathLst>
          </a:custGeom>
          <a:solidFill>
            <a:srgbClr val="546C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56223" y="1794128"/>
            <a:ext cx="2040254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72" y="271272"/>
            <a:ext cx="4224528" cy="450646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667255"/>
            <a:ext cx="1071372" cy="10576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26379" y="1667255"/>
            <a:ext cx="3104515" cy="1057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01976" y="2107667"/>
            <a:ext cx="5293359" cy="2529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8.png"/><Relationship Id="rId7" Type="http://schemas.openxmlformats.org/officeDocument/2006/relationships/image" Target="../media/image11.jpeg"/><Relationship Id="rId12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jpeg"/><Relationship Id="rId11" Type="http://schemas.openxmlformats.org/officeDocument/2006/relationships/image" Target="../media/image15.sv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hyperlink" Target="https://gfx3.senetic.com/akeneo-catalog/5/d/c/d/5dcda0c6070d37da28eb7313de267771c840b7ff_1711140__normalized_image3.jpg" TargetMode="External"/><Relationship Id="rId9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9088" y="1711717"/>
            <a:ext cx="3660775" cy="1469633"/>
          </a:xfrm>
          <a:prstGeom prst="rect">
            <a:avLst/>
          </a:prstGeom>
          <a:solidFill>
            <a:srgbClr val="546C95"/>
          </a:solidFill>
        </p:spPr>
        <p:txBody>
          <a:bodyPr vert="horz" wrap="square" lIns="0" tIns="114300" rIns="0" bIns="0" rtlCol="0">
            <a:spAutoFit/>
          </a:bodyPr>
          <a:lstStyle/>
          <a:p>
            <a:pPr marR="34290" algn="ctr">
              <a:lnSpc>
                <a:spcPct val="100000"/>
              </a:lnSpc>
              <a:spcBef>
                <a:spcPts val="900"/>
              </a:spcBef>
            </a:pPr>
            <a:r>
              <a:rPr sz="4400" b="1" spc="-254" dirty="0">
                <a:solidFill>
                  <a:srgbClr val="FFFFFF"/>
                </a:solidFill>
                <a:latin typeface="Tahoma"/>
                <a:cs typeface="Tahoma"/>
              </a:rPr>
              <a:t>AI-</a:t>
            </a:r>
            <a:r>
              <a:rPr sz="4400" b="1" spc="-10" dirty="0" err="1">
                <a:solidFill>
                  <a:srgbClr val="FFFFFF"/>
                </a:solidFill>
                <a:latin typeface="Tahoma"/>
                <a:cs typeface="Tahoma"/>
              </a:rPr>
              <a:t>Projekte</a:t>
            </a:r>
            <a:endParaRPr sz="4400" dirty="0">
              <a:latin typeface="Tahoma"/>
              <a:cs typeface="Tahoma"/>
            </a:endParaRPr>
          </a:p>
          <a:p>
            <a:pPr marR="33020" algn="ctr">
              <a:lnSpc>
                <a:spcPct val="100000"/>
              </a:lnSpc>
              <a:spcBef>
                <a:spcPts val="5"/>
              </a:spcBef>
            </a:pPr>
            <a:r>
              <a:rPr sz="4400" b="1" spc="-10" dirty="0">
                <a:solidFill>
                  <a:srgbClr val="FFFFFF"/>
                </a:solidFill>
                <a:latin typeface="Tahoma"/>
                <a:cs typeface="Tahoma"/>
              </a:rPr>
              <a:t>Übersicht</a:t>
            </a:r>
            <a:endParaRPr sz="44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61099" y="3181350"/>
            <a:ext cx="1976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Von</a:t>
            </a:r>
            <a:r>
              <a:rPr sz="1800" spc="13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Hendrik</a:t>
            </a:r>
            <a:r>
              <a:rPr sz="1800" spc="12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Stolzke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C34A5CD-AE47-40F5-BF24-26A681F30F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66988"/>
            <a:ext cx="4609523" cy="4609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7601B7B0-3DCC-4E44-932B-BE94339CA332}"/>
              </a:ext>
            </a:extLst>
          </p:cNvPr>
          <p:cNvSpPr/>
          <p:nvPr/>
        </p:nvSpPr>
        <p:spPr>
          <a:xfrm>
            <a:off x="152400" y="133350"/>
            <a:ext cx="3854821" cy="1057910"/>
          </a:xfrm>
          <a:custGeom>
            <a:avLst/>
            <a:gdLst/>
            <a:ahLst/>
            <a:cxnLst/>
            <a:rect l="l" t="t" r="r" b="b"/>
            <a:pathLst>
              <a:path w="3104515" h="1057910">
                <a:moveTo>
                  <a:pt x="3104387" y="0"/>
                </a:moveTo>
                <a:lnTo>
                  <a:pt x="0" y="0"/>
                </a:lnTo>
                <a:lnTo>
                  <a:pt x="0" y="1057656"/>
                </a:lnTo>
                <a:lnTo>
                  <a:pt x="3104387" y="1057656"/>
                </a:lnTo>
                <a:lnTo>
                  <a:pt x="3104387" y="0"/>
                </a:lnTo>
                <a:close/>
              </a:path>
            </a:pathLst>
          </a:custGeom>
          <a:solidFill>
            <a:srgbClr val="546C95"/>
          </a:solidFill>
        </p:spPr>
        <p:txBody>
          <a:bodyPr wrap="square" lIns="0" tIns="0" rIns="0" bIns="0" rtlCol="0" anchor="ctr"/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Tennis Ball</a:t>
            </a:r>
            <a:br>
              <a:rPr lang="de-DE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de-DE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Maschine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6614E91-BF83-475F-A807-0F1E095B4E58}"/>
              </a:ext>
            </a:extLst>
          </p:cNvPr>
          <p:cNvSpPr txBox="1"/>
          <p:nvPr/>
        </p:nvSpPr>
        <p:spPr>
          <a:xfrm>
            <a:off x="164589" y="4501575"/>
            <a:ext cx="37753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Bosch Office Sans"/>
              </a:rPr>
              <a:t>Design eines Tennis Bots mit Blender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C3D9F03-E236-4A5F-8A4C-BFE574EA6CAC}"/>
              </a:ext>
            </a:extLst>
          </p:cNvPr>
          <p:cNvSpPr txBox="1"/>
          <p:nvPr/>
        </p:nvSpPr>
        <p:spPr>
          <a:xfrm>
            <a:off x="5555880" y="3981708"/>
            <a:ext cx="304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latin typeface="Bosch Office Sans"/>
              </a:rPr>
              <a:t>3D-Druck mit </a:t>
            </a:r>
            <a:r>
              <a:rPr lang="de-DE" sz="1800" dirty="0" err="1">
                <a:latin typeface="Bosch Office Sans"/>
              </a:rPr>
              <a:t>Bambulab</a:t>
            </a:r>
            <a:r>
              <a:rPr lang="de-DE" sz="1800" dirty="0">
                <a:latin typeface="Bosch Office Sans"/>
              </a:rPr>
              <a:t> P1S und passend ausgewählten Filament/Materialien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1A649D1-D071-4CB4-8873-9918EAC1B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39" y="1365774"/>
            <a:ext cx="3048000" cy="296128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4297E78-8236-4121-80C9-876EF8C22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356" y="1336333"/>
            <a:ext cx="5011848" cy="260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841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F2BAC46-B1A5-4998-BAAB-78336E17B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0"/>
            <a:ext cx="3886200" cy="392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7601B7B0-3DCC-4E44-932B-BE94339CA332}"/>
              </a:ext>
            </a:extLst>
          </p:cNvPr>
          <p:cNvSpPr/>
          <p:nvPr/>
        </p:nvSpPr>
        <p:spPr>
          <a:xfrm>
            <a:off x="152400" y="133350"/>
            <a:ext cx="3854821" cy="1057910"/>
          </a:xfrm>
          <a:custGeom>
            <a:avLst/>
            <a:gdLst/>
            <a:ahLst/>
            <a:cxnLst/>
            <a:rect l="l" t="t" r="r" b="b"/>
            <a:pathLst>
              <a:path w="3104515" h="1057910">
                <a:moveTo>
                  <a:pt x="3104387" y="0"/>
                </a:moveTo>
                <a:lnTo>
                  <a:pt x="0" y="0"/>
                </a:lnTo>
                <a:lnTo>
                  <a:pt x="0" y="1057656"/>
                </a:lnTo>
                <a:lnTo>
                  <a:pt x="3104387" y="1057656"/>
                </a:lnTo>
                <a:lnTo>
                  <a:pt x="3104387" y="0"/>
                </a:lnTo>
                <a:close/>
              </a:path>
            </a:pathLst>
          </a:custGeom>
          <a:solidFill>
            <a:srgbClr val="546C95"/>
          </a:solidFill>
        </p:spPr>
        <p:txBody>
          <a:bodyPr wrap="square" lIns="0" tIns="0" rIns="0" bIns="0" rtlCol="0" anchor="ctr"/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RC-Autonomes Fahren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6614E91-BF83-475F-A807-0F1E095B4E58}"/>
              </a:ext>
            </a:extLst>
          </p:cNvPr>
          <p:cNvSpPr txBox="1"/>
          <p:nvPr/>
        </p:nvSpPr>
        <p:spPr>
          <a:xfrm>
            <a:off x="164589" y="4501575"/>
            <a:ext cx="3775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Bosch Office Sans"/>
              </a:rPr>
              <a:t>Umbau zu einem Autonomen Auto</a:t>
            </a:r>
          </a:p>
          <a:p>
            <a:pPr algn="ctr"/>
            <a:r>
              <a:rPr lang="de-DE" sz="1600" dirty="0">
                <a:latin typeface="Bosch Office Sans"/>
              </a:rPr>
              <a:t>Echtzeit Planung, Aktion und Reaktion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C3D9F03-E236-4A5F-8A4C-BFE574EA6CAC}"/>
              </a:ext>
            </a:extLst>
          </p:cNvPr>
          <p:cNvSpPr txBox="1"/>
          <p:nvPr/>
        </p:nvSpPr>
        <p:spPr>
          <a:xfrm>
            <a:off x="5555880" y="3981708"/>
            <a:ext cx="304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latin typeface="Bosch Office Sans"/>
              </a:rPr>
              <a:t>Lokalisieren und umfahren von Objekten durch 2D-Lidar Informationen </a:t>
            </a:r>
            <a:endParaRPr lang="de-DE" dirty="0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02E17486-34EB-4635-8573-7EB81DA2B3A2}"/>
              </a:ext>
            </a:extLst>
          </p:cNvPr>
          <p:cNvGrpSpPr/>
          <p:nvPr/>
        </p:nvGrpSpPr>
        <p:grpSpPr>
          <a:xfrm>
            <a:off x="152398" y="1551783"/>
            <a:ext cx="3854823" cy="2964573"/>
            <a:chOff x="159326" y="1186639"/>
            <a:chExt cx="3854823" cy="2964573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CFE58B1D-17F0-4175-8711-503C6323FA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78" t="20371" r="14445"/>
            <a:stretch/>
          </p:blipFill>
          <p:spPr>
            <a:xfrm>
              <a:off x="159327" y="1191260"/>
              <a:ext cx="3854822" cy="2959952"/>
            </a:xfrm>
            <a:prstGeom prst="rect">
              <a:avLst/>
            </a:prstGeom>
          </p:spPr>
        </p:pic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3852FA5E-C409-45B2-BF86-6F67137DED9E}"/>
                </a:ext>
              </a:extLst>
            </p:cNvPr>
            <p:cNvSpPr/>
            <p:nvPr/>
          </p:nvSpPr>
          <p:spPr>
            <a:xfrm>
              <a:off x="159326" y="3423468"/>
              <a:ext cx="1676400" cy="304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NVIDIA </a:t>
              </a:r>
              <a:r>
                <a:rPr lang="de-DE" sz="1400" dirty="0" err="1">
                  <a:solidFill>
                    <a:schemeClr val="tx1"/>
                  </a:solidFill>
                </a:rPr>
                <a:t>Jetson</a:t>
              </a:r>
              <a:r>
                <a:rPr lang="de-DE" sz="1400" dirty="0">
                  <a:solidFill>
                    <a:schemeClr val="tx1"/>
                  </a:solidFill>
                </a:rPr>
                <a:t> Nano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CDA76959-5FEB-48A5-8847-39702D2F1115}"/>
                </a:ext>
              </a:extLst>
            </p:cNvPr>
            <p:cNvSpPr/>
            <p:nvPr/>
          </p:nvSpPr>
          <p:spPr>
            <a:xfrm>
              <a:off x="845128" y="3846412"/>
              <a:ext cx="1628457" cy="304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PWM-Ansteuerung</a:t>
              </a:r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CAC0859F-5E5B-42DC-A7BD-6AEAB579EC9C}"/>
                </a:ext>
              </a:extLst>
            </p:cNvPr>
            <p:cNvCxnSpPr>
              <a:stCxn id="5" idx="0"/>
            </p:cNvCxnSpPr>
            <p:nvPr/>
          </p:nvCxnSpPr>
          <p:spPr>
            <a:xfrm flipV="1">
              <a:off x="997526" y="2569018"/>
              <a:ext cx="588818" cy="85445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2154670A-0998-4D6E-B22A-1908B8768F48}"/>
                </a:ext>
              </a:extLst>
            </p:cNvPr>
            <p:cNvSpPr/>
            <p:nvPr/>
          </p:nvSpPr>
          <p:spPr>
            <a:xfrm>
              <a:off x="2833254" y="1191260"/>
              <a:ext cx="1173967" cy="304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2D-Lidar 360°</a:t>
              </a:r>
            </a:p>
          </p:txBody>
        </p: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1E3D9FD7-269A-41F8-95CB-8837513BC3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9935" y="1496060"/>
              <a:ext cx="1272782" cy="22124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137DA18B-524F-4115-A384-825EA4A9BA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63438" y="2571750"/>
              <a:ext cx="48490" cy="1274662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CABDD428-295E-48CE-8A55-5524F36B6AF0}"/>
                </a:ext>
              </a:extLst>
            </p:cNvPr>
            <p:cNvSpPr/>
            <p:nvPr/>
          </p:nvSpPr>
          <p:spPr>
            <a:xfrm>
              <a:off x="159326" y="1186639"/>
              <a:ext cx="1066800" cy="304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Farbkamera</a:t>
              </a:r>
            </a:p>
          </p:txBody>
        </p: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EA897441-3BB5-4873-9776-A947D219989C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692726" y="1491439"/>
              <a:ext cx="678874" cy="177854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547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4B585FE0-375D-405C-A7AF-61AADF1971FB}"/>
              </a:ext>
            </a:extLst>
          </p:cNvPr>
          <p:cNvSpPr/>
          <p:nvPr/>
        </p:nvSpPr>
        <p:spPr>
          <a:xfrm>
            <a:off x="3487054" y="208763"/>
            <a:ext cx="5670382" cy="66675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F2E49B3-9EEF-4E45-9AA9-2974CA846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074" y="265912"/>
            <a:ext cx="1147825" cy="43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A9F931BD-0815-47DD-8C86-34E73E23673D}"/>
              </a:ext>
            </a:extLst>
          </p:cNvPr>
          <p:cNvSpPr/>
          <p:nvPr/>
        </p:nvSpPr>
        <p:spPr>
          <a:xfrm>
            <a:off x="-18147" y="-762"/>
            <a:ext cx="3505201" cy="1047750"/>
          </a:xfrm>
          <a:custGeom>
            <a:avLst/>
            <a:gdLst/>
            <a:ahLst/>
            <a:cxnLst/>
            <a:rect l="l" t="t" r="r" b="b"/>
            <a:pathLst>
              <a:path w="3104515" h="1057910">
                <a:moveTo>
                  <a:pt x="3104387" y="0"/>
                </a:moveTo>
                <a:lnTo>
                  <a:pt x="0" y="0"/>
                </a:lnTo>
                <a:lnTo>
                  <a:pt x="0" y="1057656"/>
                </a:lnTo>
                <a:lnTo>
                  <a:pt x="3104387" y="1057656"/>
                </a:lnTo>
                <a:lnTo>
                  <a:pt x="3104387" y="0"/>
                </a:lnTo>
                <a:close/>
              </a:path>
            </a:pathLst>
          </a:custGeom>
          <a:solidFill>
            <a:srgbClr val="546C95"/>
          </a:solidFill>
        </p:spPr>
        <p:txBody>
          <a:bodyPr wrap="square" lIns="0" tIns="0" rIns="0" bIns="0" rtlCol="0" anchor="ctr"/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Cross-Plattform App-Entwicklung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1DBB25A-F0F2-4C71-A2B4-3B9E4FDC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458" y="344010"/>
            <a:ext cx="5485341" cy="738664"/>
          </a:xfrm>
        </p:spPr>
        <p:txBody>
          <a:bodyPr/>
          <a:lstStyle/>
          <a:p>
            <a:pPr algn="l"/>
            <a:r>
              <a:rPr lang="de-DE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App-Entwicklung mit 		   und </a:t>
            </a:r>
            <a:r>
              <a:rPr lang="en-US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Tower Server </a:t>
            </a:r>
            <a:r>
              <a:rPr lang="de-DE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Anbindung für Betriebssysteme wie IOS, Android, Windows oder auch Web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DB22178-2B25-48C7-894B-C1DD3D0808A2}"/>
              </a:ext>
            </a:extLst>
          </p:cNvPr>
          <p:cNvSpPr txBox="1"/>
          <p:nvPr/>
        </p:nvSpPr>
        <p:spPr>
          <a:xfrm>
            <a:off x="1295400" y="5225294"/>
            <a:ext cx="8305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>
                <a:solidFill>
                  <a:schemeClr val="bg1"/>
                </a:solidFill>
              </a:rPr>
              <a:t>Bild-Quelle: </a:t>
            </a:r>
            <a:r>
              <a:rPr lang="de-DE" sz="11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5dcda0c6070d37da28eb7313de267771c840b7ff_1711140__normalized_image3.jpg (1200×1200)</a:t>
            </a:r>
            <a:endParaRPr lang="de-DE" sz="110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F655DA9-6F57-4494-A815-5961D10DF7DC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779" y="1080000"/>
            <a:ext cx="1512000" cy="3132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29BD378-E21B-467B-AE61-3EAB95E03D32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044" y="1080000"/>
            <a:ext cx="1512000" cy="3132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643C4FA3-E015-45F9-AF65-04492D8E25EC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" y="1080000"/>
            <a:ext cx="1512000" cy="3132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E188D736-59B9-4649-BB97-0D7456FCBBED}"/>
              </a:ext>
            </a:extLst>
          </p:cNvPr>
          <p:cNvPicPr preferRelativeResize="0"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793" y="1080000"/>
            <a:ext cx="1512000" cy="3132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105E1FA-56E0-424C-830D-410A289AF7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1" t="7185" r="18563" b="6587"/>
          <a:stretch/>
        </p:blipFill>
        <p:spPr bwMode="auto">
          <a:xfrm>
            <a:off x="7649544" y="2329664"/>
            <a:ext cx="1501366" cy="1930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F5E59E20-4BB8-42EF-892B-CB7737817800}"/>
              </a:ext>
            </a:extLst>
          </p:cNvPr>
          <p:cNvSpPr txBox="1"/>
          <p:nvPr/>
        </p:nvSpPr>
        <p:spPr>
          <a:xfrm>
            <a:off x="0" y="4288406"/>
            <a:ext cx="1498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Start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C0F1C59-8769-4590-9852-4311A9EC60E1}"/>
              </a:ext>
            </a:extLst>
          </p:cNvPr>
          <p:cNvSpPr txBox="1"/>
          <p:nvPr/>
        </p:nvSpPr>
        <p:spPr>
          <a:xfrm>
            <a:off x="1498091" y="4295185"/>
            <a:ext cx="1555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Login / Registrierung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4A40952-82B8-4CF9-9ACA-5794E7823319}"/>
              </a:ext>
            </a:extLst>
          </p:cNvPr>
          <p:cNvSpPr txBox="1"/>
          <p:nvPr/>
        </p:nvSpPr>
        <p:spPr>
          <a:xfrm>
            <a:off x="3036358" y="4259992"/>
            <a:ext cx="1555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Dynamisches Front &amp; Backend 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E480E2D-3459-48E4-85A9-60C814FB3625}"/>
              </a:ext>
            </a:extLst>
          </p:cNvPr>
          <p:cNvSpPr txBox="1"/>
          <p:nvPr/>
        </p:nvSpPr>
        <p:spPr>
          <a:xfrm>
            <a:off x="4498903" y="4275757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Swiping</a:t>
            </a:r>
            <a:r>
              <a:rPr lang="de-DE" dirty="0"/>
              <a:t> / </a:t>
            </a:r>
            <a:br>
              <a:rPr lang="de-DE" dirty="0"/>
            </a:br>
            <a:r>
              <a:rPr lang="de-DE" dirty="0"/>
              <a:t>Suche &amp; </a:t>
            </a:r>
            <a:r>
              <a:rPr lang="de-DE" dirty="0" err="1"/>
              <a:t>Scrollelemente</a:t>
            </a:r>
            <a:endParaRPr lang="de-DE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00F4ACE-4EC7-4AA7-99B1-755D5E7DD782}"/>
              </a:ext>
            </a:extLst>
          </p:cNvPr>
          <p:cNvSpPr txBox="1"/>
          <p:nvPr/>
        </p:nvSpPr>
        <p:spPr>
          <a:xfrm>
            <a:off x="6022903" y="4288406"/>
            <a:ext cx="164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Chats und weitere Seiten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1E339153-A22F-4823-9B46-74CB8E6649A2}"/>
              </a:ext>
            </a:extLst>
          </p:cNvPr>
          <p:cNvSpPr txBox="1"/>
          <p:nvPr/>
        </p:nvSpPr>
        <p:spPr>
          <a:xfrm>
            <a:off x="6022902" y="4288406"/>
            <a:ext cx="164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Chats und weitere Seiten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9283FEE-427D-439D-80B7-0732D6D729AC}"/>
              </a:ext>
            </a:extLst>
          </p:cNvPr>
          <p:cNvSpPr txBox="1"/>
          <p:nvPr/>
        </p:nvSpPr>
        <p:spPr>
          <a:xfrm>
            <a:off x="7515464" y="4288861"/>
            <a:ext cx="1641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DELL EMC PowerEdge T150</a:t>
            </a:r>
            <a:endParaRPr lang="de-DE" dirty="0"/>
          </a:p>
        </p:txBody>
      </p:sp>
      <p:pic>
        <p:nvPicPr>
          <p:cNvPr id="32" name="Grafik 31" descr="Mann im Kapuzenpullover">
            <a:extLst>
              <a:ext uri="{FF2B5EF4-FFF2-40B4-BE49-F238E27FC236}">
                <a16:creationId xmlns:a16="http://schemas.microsoft.com/office/drawing/2014/main" id="{83542D1E-1E16-4C90-A911-1C1E7358F2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09785" y="1885950"/>
            <a:ext cx="1178577" cy="1588897"/>
          </a:xfrm>
          <a:prstGeom prst="rect">
            <a:avLst/>
          </a:prstGeom>
        </p:spPr>
      </p:pic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DC4B60A5-73F1-4E8A-9AC4-5F43975AC464}"/>
              </a:ext>
            </a:extLst>
          </p:cNvPr>
          <p:cNvGrpSpPr/>
          <p:nvPr/>
        </p:nvGrpSpPr>
        <p:grpSpPr>
          <a:xfrm>
            <a:off x="6084779" y="1080000"/>
            <a:ext cx="1512000" cy="3132000"/>
            <a:chOff x="6084779" y="1080000"/>
            <a:chExt cx="1512000" cy="3132000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26E30965-64BF-412A-8F2F-C53F92744D7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4779" y="1080000"/>
              <a:ext cx="1512000" cy="313200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F98D6B9A-32DD-4666-B897-865E1AB7404E}"/>
                </a:ext>
              </a:extLst>
            </p:cNvPr>
            <p:cNvSpPr/>
            <p:nvPr/>
          </p:nvSpPr>
          <p:spPr>
            <a:xfrm>
              <a:off x="6190438" y="2571750"/>
              <a:ext cx="203578" cy="1899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5" name="Grafik 34" descr="Mann im Kapuzenpullover">
              <a:extLst>
                <a:ext uri="{FF2B5EF4-FFF2-40B4-BE49-F238E27FC236}">
                  <a16:creationId xmlns:a16="http://schemas.microsoft.com/office/drawing/2014/main" id="{4BA03477-193E-453B-93EE-8DD2110A6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221785" y="2571750"/>
              <a:ext cx="140884" cy="189933"/>
            </a:xfrm>
            <a:prstGeom prst="rect">
              <a:avLst/>
            </a:prstGeom>
          </p:spPr>
        </p:pic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14F1B5E7-C687-451B-B730-D1EEF4ADB51B}"/>
                </a:ext>
              </a:extLst>
            </p:cNvPr>
            <p:cNvGrpSpPr/>
            <p:nvPr/>
          </p:nvGrpSpPr>
          <p:grpSpPr>
            <a:xfrm>
              <a:off x="6165408" y="2197872"/>
              <a:ext cx="156837" cy="152400"/>
              <a:chOff x="6342838" y="2724150"/>
              <a:chExt cx="203578" cy="189933"/>
            </a:xfrm>
          </p:grpSpPr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2E25C3AB-8BED-4FCB-AD31-83C61439CE8F}"/>
                  </a:ext>
                </a:extLst>
              </p:cNvPr>
              <p:cNvSpPr/>
              <p:nvPr/>
            </p:nvSpPr>
            <p:spPr>
              <a:xfrm>
                <a:off x="6342838" y="2724150"/>
                <a:ext cx="203578" cy="18993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38" name="Grafik 37" descr="Mann im Kapuzenpullover">
                <a:extLst>
                  <a:ext uri="{FF2B5EF4-FFF2-40B4-BE49-F238E27FC236}">
                    <a16:creationId xmlns:a16="http://schemas.microsoft.com/office/drawing/2014/main" id="{B341ED90-A1FA-4FC2-8E7E-5152858703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374185" y="2724150"/>
                <a:ext cx="140884" cy="189933"/>
              </a:xfrm>
              <a:prstGeom prst="rect">
                <a:avLst/>
              </a:prstGeom>
            </p:spPr>
          </p:pic>
        </p:grpSp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5C3049A6-7EB6-48D6-951E-AB305C137296}"/>
              </a:ext>
            </a:extLst>
          </p:cNvPr>
          <p:cNvSpPr txBox="1"/>
          <p:nvPr/>
        </p:nvSpPr>
        <p:spPr>
          <a:xfrm>
            <a:off x="7652819" y="1443069"/>
            <a:ext cx="149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Linux Hosting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2FB333A8-9FAE-48AA-BEA2-A150A40EC2D9}"/>
              </a:ext>
            </a:extLst>
          </p:cNvPr>
          <p:cNvSpPr/>
          <p:nvPr/>
        </p:nvSpPr>
        <p:spPr>
          <a:xfrm>
            <a:off x="3487054" y="208210"/>
            <a:ext cx="5670382" cy="66675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5" name="Picture 4">
            <a:extLst>
              <a:ext uri="{FF2B5EF4-FFF2-40B4-BE49-F238E27FC236}">
                <a16:creationId xmlns:a16="http://schemas.microsoft.com/office/drawing/2014/main" id="{A236116A-353B-4751-8C58-433A49F9E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074" y="265359"/>
            <a:ext cx="1147825" cy="43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itel 1">
            <a:extLst>
              <a:ext uri="{FF2B5EF4-FFF2-40B4-BE49-F238E27FC236}">
                <a16:creationId xmlns:a16="http://schemas.microsoft.com/office/drawing/2014/main" id="{E6984C38-88F1-4BAE-AC88-BA7A1E87D639}"/>
              </a:ext>
            </a:extLst>
          </p:cNvPr>
          <p:cNvSpPr txBox="1">
            <a:spLocks/>
          </p:cNvSpPr>
          <p:nvPr/>
        </p:nvSpPr>
        <p:spPr>
          <a:xfrm>
            <a:off x="3582458" y="343457"/>
            <a:ext cx="5485341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ahoma"/>
                <a:ea typeface="+mj-ea"/>
                <a:cs typeface="Tahoma"/>
              </a:defRPr>
            </a:lvl1pPr>
          </a:lstStyle>
          <a:p>
            <a:pPr algn="l"/>
            <a:r>
              <a:rPr lang="de-DE" sz="1600" b="0" kern="120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App-Entwicklung mit 		   und </a:t>
            </a:r>
            <a:r>
              <a:rPr lang="en-US" sz="1600" b="0" kern="120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Tower Server </a:t>
            </a:r>
            <a:r>
              <a:rPr lang="de-DE" sz="1600" b="0" kern="120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Anbindung für Betriebssysteme wie IOS, Android, Windows oder auch Web </a:t>
            </a:r>
            <a:endParaRPr lang="de-DE" sz="1600" b="0" kern="1200" dirty="0">
              <a:solidFill>
                <a:prstClr val="black"/>
              </a:solidFill>
              <a:latin typeface="Bosch Office Sans"/>
              <a:ea typeface="+mn-ea"/>
              <a:cs typeface="+mn-cs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F8CA4F3-DE72-4F41-8083-A35821AC9305}"/>
              </a:ext>
            </a:extLst>
          </p:cNvPr>
          <p:cNvSpPr txBox="1"/>
          <p:nvPr/>
        </p:nvSpPr>
        <p:spPr>
          <a:xfrm>
            <a:off x="7652819" y="1442516"/>
            <a:ext cx="149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Linux Hosting</a:t>
            </a:r>
          </a:p>
        </p:txBody>
      </p:sp>
    </p:spTree>
    <p:extLst>
      <p:ext uri="{BB962C8B-B14F-4D97-AF65-F5344CB8AC3E}">
        <p14:creationId xmlns:p14="http://schemas.microsoft.com/office/powerpoint/2010/main" val="1468385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7601B7B0-3DCC-4E44-932B-BE94339CA332}"/>
              </a:ext>
            </a:extLst>
          </p:cNvPr>
          <p:cNvSpPr/>
          <p:nvPr/>
        </p:nvSpPr>
        <p:spPr>
          <a:xfrm>
            <a:off x="152400" y="133350"/>
            <a:ext cx="3810000" cy="1057910"/>
          </a:xfrm>
          <a:custGeom>
            <a:avLst/>
            <a:gdLst/>
            <a:ahLst/>
            <a:cxnLst/>
            <a:rect l="l" t="t" r="r" b="b"/>
            <a:pathLst>
              <a:path w="3104515" h="1057910">
                <a:moveTo>
                  <a:pt x="3104387" y="0"/>
                </a:moveTo>
                <a:lnTo>
                  <a:pt x="0" y="0"/>
                </a:lnTo>
                <a:lnTo>
                  <a:pt x="0" y="1057656"/>
                </a:lnTo>
                <a:lnTo>
                  <a:pt x="3104387" y="1057656"/>
                </a:lnTo>
                <a:lnTo>
                  <a:pt x="3104387" y="0"/>
                </a:lnTo>
                <a:close/>
              </a:path>
            </a:pathLst>
          </a:custGeom>
          <a:solidFill>
            <a:srgbClr val="546C95"/>
          </a:solidFill>
        </p:spPr>
        <p:txBody>
          <a:bodyPr wrap="square" lIns="0" tIns="0" rIns="0" bIns="0" rtlCol="0" anchor="ctr"/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Autonomes Fahren Carrera Bahn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748ADC4-1D3D-4B1F-AA7F-B44A8CFD19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32" y="1270583"/>
            <a:ext cx="2133599" cy="16010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C0FF9F2-5597-4677-8EE8-AC47A3BC3F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55" y="3220919"/>
            <a:ext cx="2134775" cy="160108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6F070BB-5EAE-42F2-AD6A-E1199AE7FF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270583"/>
            <a:ext cx="6477000" cy="3686639"/>
          </a:xfrm>
          <a:prstGeom prst="rect">
            <a:avLst/>
          </a:prstGeom>
        </p:spPr>
      </p:pic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FCA59E30-7FED-49BA-819E-4AE91FCE9FA7}"/>
              </a:ext>
            </a:extLst>
          </p:cNvPr>
          <p:cNvSpPr txBox="1">
            <a:spLocks/>
          </p:cNvSpPr>
          <p:nvPr/>
        </p:nvSpPr>
        <p:spPr>
          <a:xfrm>
            <a:off x="151225" y="2876550"/>
            <a:ext cx="2134775" cy="340550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 defTabSz="685841">
              <a:spcBef>
                <a:spcPts val="375"/>
              </a:spcBef>
              <a:defRPr/>
            </a:pPr>
            <a:r>
              <a:rPr lang="de-DE" sz="1600" kern="1200" dirty="0">
                <a:solidFill>
                  <a:prstClr val="black"/>
                </a:solidFill>
                <a:latin typeface="Bosch Office Sans"/>
              </a:rPr>
              <a:t>PWM-Ansteuerung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6A6D857D-DFE4-4B3B-8F63-3AA6BB95CF79}"/>
              </a:ext>
            </a:extLst>
          </p:cNvPr>
          <p:cNvSpPr txBox="1">
            <a:spLocks/>
          </p:cNvSpPr>
          <p:nvPr/>
        </p:nvSpPr>
        <p:spPr>
          <a:xfrm>
            <a:off x="150047" y="4802950"/>
            <a:ext cx="2110392" cy="340550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 defTabSz="685841">
              <a:spcBef>
                <a:spcPts val="375"/>
              </a:spcBef>
              <a:defRPr/>
            </a:pPr>
            <a:r>
              <a:rPr lang="de-DE" sz="1600" kern="1200" dirty="0">
                <a:solidFill>
                  <a:prstClr val="black"/>
                </a:solidFill>
                <a:latin typeface="Bosch Office Sans"/>
              </a:rPr>
              <a:t>Kamera Bild (von oben)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F2F8646-0099-47D4-8E09-C44328F07879}"/>
              </a:ext>
            </a:extLst>
          </p:cNvPr>
          <p:cNvSpPr txBox="1"/>
          <p:nvPr/>
        </p:nvSpPr>
        <p:spPr>
          <a:xfrm>
            <a:off x="4114800" y="141732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Bosch Office Sans"/>
              </a:rPr>
              <a:t>Vorverarbeitung: HSV Filter, dann Opening, Closing</a:t>
            </a:r>
          </a:p>
          <a:p>
            <a:r>
              <a:rPr lang="de-DE" sz="1600" dirty="0">
                <a:latin typeface="Bosch Office Sans"/>
              </a:rPr>
              <a:t>Algorithmen: DDPG und PPO</a:t>
            </a:r>
          </a:p>
          <a:p>
            <a:r>
              <a:rPr lang="de-DE" sz="1600" dirty="0">
                <a:latin typeface="Bosch Office Sans"/>
              </a:rPr>
              <a:t>Mit Crash-Erkennung (Herausfliegen)</a:t>
            </a:r>
          </a:p>
        </p:txBody>
      </p:sp>
    </p:spTree>
    <p:extLst>
      <p:ext uri="{BB962C8B-B14F-4D97-AF65-F5344CB8AC3E}">
        <p14:creationId xmlns:p14="http://schemas.microsoft.com/office/powerpoint/2010/main" val="3089591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nhaltsplatzhalter 8">
            <a:extLst>
              <a:ext uri="{FF2B5EF4-FFF2-40B4-BE49-F238E27FC236}">
                <a16:creationId xmlns:a16="http://schemas.microsoft.com/office/drawing/2014/main" id="{D3D01865-07A5-4F10-8D64-D809C1BFFE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6" r="3706" b="9946"/>
          <a:stretch/>
        </p:blipFill>
        <p:spPr>
          <a:xfrm>
            <a:off x="3195154" y="2019514"/>
            <a:ext cx="5979326" cy="312398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" name="Inhaltsplatzhalter 7">
            <a:extLst>
              <a:ext uri="{FF2B5EF4-FFF2-40B4-BE49-F238E27FC236}">
                <a16:creationId xmlns:a16="http://schemas.microsoft.com/office/drawing/2014/main" id="{97662591-0FF3-4225-8FF8-15825B866CF8}"/>
              </a:ext>
            </a:extLst>
          </p:cNvPr>
          <p:cNvSpPr txBox="1">
            <a:spLocks/>
          </p:cNvSpPr>
          <p:nvPr/>
        </p:nvSpPr>
        <p:spPr>
          <a:xfrm>
            <a:off x="0" y="971550"/>
            <a:ext cx="5979326" cy="3062798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41">
              <a:spcBef>
                <a:spcPts val="375"/>
              </a:spcBef>
              <a:defRPr/>
            </a:pPr>
            <a:r>
              <a:rPr lang="de-DE" sz="1600" kern="1200" dirty="0">
                <a:solidFill>
                  <a:prstClr val="black"/>
                </a:solidFill>
                <a:latin typeface="Bosch Office Sans"/>
              </a:rPr>
              <a:t>Mit Python, SQL und Kafka</a:t>
            </a:r>
          </a:p>
          <a:p>
            <a:pPr marL="172823" indent="-172823" algn="l" defTabSz="685841" rtl="0">
              <a:lnSpc>
                <a:spcPct val="107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/>
            </a:pPr>
            <a:r>
              <a:rPr lang="de-DE" sz="1600" kern="1200" dirty="0">
                <a:solidFill>
                  <a:prstClr val="black"/>
                </a:solidFill>
                <a:latin typeface="Bosch Office Sans"/>
              </a:rPr>
              <a:t>Anomaly </a:t>
            </a:r>
            <a:r>
              <a:rPr lang="de-DE" sz="1600" kern="1200" dirty="0" err="1">
                <a:solidFill>
                  <a:prstClr val="black"/>
                </a:solidFill>
                <a:latin typeface="Bosch Office Sans"/>
              </a:rPr>
              <a:t>Detection</a:t>
            </a:r>
            <a:r>
              <a:rPr lang="de-DE" sz="1600" kern="1200" dirty="0">
                <a:solidFill>
                  <a:prstClr val="black"/>
                </a:solidFill>
                <a:latin typeface="Bosch Office Sans"/>
              </a:rPr>
              <a:t> Dashboard für Produktionslinien mit </a:t>
            </a:r>
            <a:r>
              <a:rPr lang="de-DE" sz="1600" kern="1200" dirty="0" err="1">
                <a:solidFill>
                  <a:prstClr val="black"/>
                </a:solidFill>
                <a:latin typeface="Bosch Office Sans"/>
              </a:rPr>
              <a:t>Streamlit</a:t>
            </a:r>
            <a:endParaRPr lang="de-DE" sz="1600" kern="1200" dirty="0">
              <a:solidFill>
                <a:prstClr val="black"/>
              </a:solidFill>
              <a:latin typeface="Bosch Office Sans"/>
            </a:endParaRPr>
          </a:p>
          <a:p>
            <a:pPr marL="172823" indent="-172823" algn="l" defTabSz="685841" rtl="0">
              <a:lnSpc>
                <a:spcPct val="107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/>
            </a:pPr>
            <a:r>
              <a:rPr lang="de-DE" sz="1600" kern="1200" dirty="0">
                <a:solidFill>
                  <a:prstClr val="black"/>
                </a:solidFill>
                <a:latin typeface="Bosch Office Sans"/>
              </a:rPr>
              <a:t>Informationsbeschaffung aus Daten mit Pandas</a:t>
            </a:r>
          </a:p>
          <a:p>
            <a:pPr marL="172823" indent="-172823" algn="l" defTabSz="685841" rtl="0">
              <a:lnSpc>
                <a:spcPct val="107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/>
            </a:pPr>
            <a:r>
              <a:rPr lang="de-DE" sz="1600" dirty="0">
                <a:solidFill>
                  <a:prstClr val="black"/>
                </a:solidFill>
                <a:latin typeface="Bosch Office Sans"/>
              </a:rPr>
              <a:t>Parallelisierung</a:t>
            </a:r>
          </a:p>
          <a:p>
            <a:pPr marL="172823" indent="-172823" algn="l" defTabSz="685841" rtl="0">
              <a:lnSpc>
                <a:spcPct val="107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/>
            </a:pPr>
            <a:r>
              <a:rPr lang="de-DE" sz="1600" kern="1200" dirty="0">
                <a:solidFill>
                  <a:prstClr val="black"/>
                </a:solidFill>
                <a:latin typeface="Bosch Office Sans"/>
              </a:rPr>
              <a:t>Echtzeitdaten</a:t>
            </a:r>
          </a:p>
          <a:p>
            <a:pPr marL="172823" indent="-172823" algn="l" defTabSz="685841" rtl="0">
              <a:lnSpc>
                <a:spcPct val="107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/>
            </a:pPr>
            <a:r>
              <a:rPr lang="de-DE" sz="1600" dirty="0">
                <a:solidFill>
                  <a:prstClr val="black"/>
                </a:solidFill>
                <a:latin typeface="Bosch Office Sans"/>
              </a:rPr>
              <a:t>Design Pattern</a:t>
            </a:r>
          </a:p>
          <a:p>
            <a:pPr marL="172823" indent="-172823" algn="l" defTabSz="685841" rtl="0">
              <a:lnSpc>
                <a:spcPct val="107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/>
            </a:pPr>
            <a:r>
              <a:rPr lang="de-DE" sz="1600" dirty="0" err="1">
                <a:solidFill>
                  <a:prstClr val="black"/>
                </a:solidFill>
                <a:latin typeface="Bosch Office Sans"/>
              </a:rPr>
              <a:t>Git</a:t>
            </a:r>
            <a:endParaRPr lang="de-DE" sz="1600" dirty="0">
              <a:solidFill>
                <a:prstClr val="black"/>
              </a:solidFill>
              <a:latin typeface="Bosch Office Sans"/>
            </a:endParaRPr>
          </a:p>
          <a:p>
            <a:pPr algn="l" defTabSz="685841" rtl="0">
              <a:lnSpc>
                <a:spcPct val="107000"/>
              </a:lnSpc>
              <a:spcBef>
                <a:spcPts val="375"/>
              </a:spcBef>
              <a:defRPr/>
            </a:pPr>
            <a:endParaRPr lang="de-DE" sz="1600" dirty="0">
              <a:solidFill>
                <a:prstClr val="black"/>
              </a:solidFill>
              <a:latin typeface="Bosch Office Sans"/>
            </a:endParaRPr>
          </a:p>
          <a:p>
            <a:pPr marL="172823" indent="-172823" algn="l" defTabSz="685841" rtl="0">
              <a:lnSpc>
                <a:spcPct val="107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/>
            </a:pPr>
            <a:endParaRPr lang="de-DE" sz="1050" kern="1200" dirty="0">
              <a:solidFill>
                <a:prstClr val="black"/>
              </a:solidFill>
              <a:latin typeface="Bosch Office Sans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EE7AF34-2C68-455D-9EA1-5FE54890D7F7}"/>
              </a:ext>
            </a:extLst>
          </p:cNvPr>
          <p:cNvSpPr/>
          <p:nvPr/>
        </p:nvSpPr>
        <p:spPr>
          <a:xfrm>
            <a:off x="2743200" y="0"/>
            <a:ext cx="3104515" cy="1057910"/>
          </a:xfrm>
          <a:custGeom>
            <a:avLst/>
            <a:gdLst/>
            <a:ahLst/>
            <a:cxnLst/>
            <a:rect l="l" t="t" r="r" b="b"/>
            <a:pathLst>
              <a:path w="3104515" h="1057910">
                <a:moveTo>
                  <a:pt x="3104387" y="0"/>
                </a:moveTo>
                <a:lnTo>
                  <a:pt x="0" y="0"/>
                </a:lnTo>
                <a:lnTo>
                  <a:pt x="0" y="1057656"/>
                </a:lnTo>
                <a:lnTo>
                  <a:pt x="3104387" y="1057656"/>
                </a:lnTo>
                <a:lnTo>
                  <a:pt x="3104387" y="0"/>
                </a:lnTo>
                <a:close/>
              </a:path>
            </a:pathLst>
          </a:custGeom>
          <a:solidFill>
            <a:srgbClr val="546C95"/>
          </a:solidFill>
        </p:spPr>
        <p:txBody>
          <a:bodyPr wrap="square" lIns="0" tIns="0" rIns="0" bIns="0" rtlCol="0" anchor="ctr"/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Anomaly Dashboard</a:t>
            </a:r>
            <a:endParaRPr sz="2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130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B56D2-C942-4CA6-8B23-026A0416E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55" y="100473"/>
            <a:ext cx="9438845" cy="1292662"/>
          </a:xfrm>
        </p:spPr>
        <p:txBody>
          <a:bodyPr/>
          <a:lstStyle/>
          <a:p>
            <a:r>
              <a:rPr lang="de-DE" sz="14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Firma Robert Bosch GmbH, Werk Bühl</a:t>
            </a:r>
            <a:br>
              <a:rPr lang="de-DE" sz="14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</a:br>
            <a:r>
              <a:rPr lang="de-DE" sz="14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Herstellung von Elektro-Kleinmotoren</a:t>
            </a:r>
            <a:br>
              <a:rPr lang="de-DE" sz="14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</a:br>
            <a:br>
              <a:rPr lang="de-DE" sz="14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</a:br>
            <a:br>
              <a:rPr lang="de-DE" sz="14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</a:br>
            <a:r>
              <a:rPr lang="de-DE" sz="14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Thema: Erkennung von Anomalien in Messdaten von hochautomatischen Produktionslinien und Ursachenanalyse</a:t>
            </a:r>
            <a:br>
              <a:rPr lang="de-DE" sz="14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</a:br>
            <a:r>
              <a:rPr lang="de-DE" sz="14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-&gt; </a:t>
            </a:r>
            <a:r>
              <a:rPr lang="de-DE" sz="1400" b="0" kern="1200" dirty="0" err="1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Unrundheitsmessung</a:t>
            </a:r>
            <a:r>
              <a:rPr lang="de-DE" sz="14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 in Prüfstation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60F4C144-F434-4548-811C-16B65C736F56}"/>
              </a:ext>
            </a:extLst>
          </p:cNvPr>
          <p:cNvSpPr/>
          <p:nvPr/>
        </p:nvSpPr>
        <p:spPr>
          <a:xfrm>
            <a:off x="3555036" y="-26362"/>
            <a:ext cx="3104515" cy="845512"/>
          </a:xfrm>
          <a:custGeom>
            <a:avLst/>
            <a:gdLst/>
            <a:ahLst/>
            <a:cxnLst/>
            <a:rect l="l" t="t" r="r" b="b"/>
            <a:pathLst>
              <a:path w="3104515" h="1057910">
                <a:moveTo>
                  <a:pt x="3104387" y="0"/>
                </a:moveTo>
                <a:lnTo>
                  <a:pt x="0" y="0"/>
                </a:lnTo>
                <a:lnTo>
                  <a:pt x="0" y="1057656"/>
                </a:lnTo>
                <a:lnTo>
                  <a:pt x="3104387" y="1057656"/>
                </a:lnTo>
                <a:lnTo>
                  <a:pt x="3104387" y="0"/>
                </a:lnTo>
                <a:close/>
              </a:path>
            </a:pathLst>
          </a:custGeom>
          <a:solidFill>
            <a:srgbClr val="546C95"/>
          </a:solidFill>
        </p:spPr>
        <p:txBody>
          <a:bodyPr wrap="square" lIns="0" tIns="0" rIns="0" bIns="0" rtlCol="0" anchor="ctr"/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Bachelor Thesis</a:t>
            </a:r>
          </a:p>
        </p:txBody>
      </p:sp>
      <p:pic>
        <p:nvPicPr>
          <p:cNvPr id="4" name="Inhaltsplatzhalter 6">
            <a:extLst>
              <a:ext uri="{FF2B5EF4-FFF2-40B4-BE49-F238E27FC236}">
                <a16:creationId xmlns:a16="http://schemas.microsoft.com/office/drawing/2014/main" id="{CDF3B733-78CA-4DC7-B7EC-78DCDB1C0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440129"/>
            <a:ext cx="4257243" cy="280877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66A3533-0986-4324-B643-BB106BA90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6758" y="1428750"/>
            <a:ext cx="4257243" cy="2834156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E87FC81-449D-4B37-A162-8F98DD90D12A}"/>
              </a:ext>
            </a:extLst>
          </p:cNvPr>
          <p:cNvSpPr txBox="1"/>
          <p:nvPr/>
        </p:nvSpPr>
        <p:spPr>
          <a:xfrm>
            <a:off x="5107294" y="4196468"/>
            <a:ext cx="4051946" cy="3957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kern="0" dirty="0">
                <a:solidFill>
                  <a:srgbClr val="000000"/>
                </a:solidFill>
              </a:rPr>
              <a:t>Zeitreihe geglättet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B5858C0-8B7A-4452-BFB0-BD9C57C86459}"/>
              </a:ext>
            </a:extLst>
          </p:cNvPr>
          <p:cNvSpPr txBox="1"/>
          <p:nvPr/>
        </p:nvSpPr>
        <p:spPr>
          <a:xfrm>
            <a:off x="1" y="4539789"/>
            <a:ext cx="9143999" cy="3941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Ausschuss durch einen Sprung </a:t>
            </a:r>
          </a:p>
          <a:p>
            <a:pPr marL="285750" marR="0" indent="-285750" algn="ctr" defTabSz="914400" eaLnBrk="1" fontAlgn="auto" latinLnBrk="0" hangingPunct="1"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</a:pPr>
            <a:r>
              <a:rPr lang="de-DE" b="1" dirty="0"/>
              <a:t>U-Net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-Modell und </a:t>
            </a: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Ruptures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Changepoint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Detection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zur Überwachung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9196E92-54F2-4616-8FA4-4B34D6BEFFB9}"/>
              </a:ext>
            </a:extLst>
          </p:cNvPr>
          <p:cNvCxnSpPr>
            <a:cxnSpLocks/>
          </p:cNvCxnSpPr>
          <p:nvPr/>
        </p:nvCxnSpPr>
        <p:spPr>
          <a:xfrm flipV="1">
            <a:off x="6337564" y="2000724"/>
            <a:ext cx="0" cy="1070973"/>
          </a:xfrm>
          <a:prstGeom prst="straightConnector1">
            <a:avLst/>
          </a:prstGeom>
          <a:ln w="38100">
            <a:solidFill>
              <a:srgbClr val="ED00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F9FD2491-3870-42C9-BD5C-1911067F8F16}"/>
              </a:ext>
            </a:extLst>
          </p:cNvPr>
          <p:cNvCxnSpPr>
            <a:cxnSpLocks/>
          </p:cNvCxnSpPr>
          <p:nvPr/>
        </p:nvCxnSpPr>
        <p:spPr>
          <a:xfrm flipV="1">
            <a:off x="1568793" y="2417421"/>
            <a:ext cx="0" cy="888839"/>
          </a:xfrm>
          <a:prstGeom prst="straightConnector1">
            <a:avLst/>
          </a:prstGeom>
          <a:ln w="38100">
            <a:solidFill>
              <a:srgbClr val="ED00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517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B984AD62-4C4B-4148-85C6-996FE2158D8F}"/>
              </a:ext>
            </a:extLst>
          </p:cNvPr>
          <p:cNvGrpSpPr/>
          <p:nvPr/>
        </p:nvGrpSpPr>
        <p:grpSpPr>
          <a:xfrm>
            <a:off x="0" y="1352287"/>
            <a:ext cx="9144000" cy="3791213"/>
            <a:chOff x="129700" y="219863"/>
            <a:chExt cx="12101849" cy="6688862"/>
          </a:xfrm>
        </p:grpSpPr>
        <p:pic>
          <p:nvPicPr>
            <p:cNvPr id="15" name="Google Shape;573;g3b7110cd72a_0_1085">
              <a:extLst>
                <a:ext uri="{FF2B5EF4-FFF2-40B4-BE49-F238E27FC236}">
                  <a16:creationId xmlns:a16="http://schemas.microsoft.com/office/drawing/2014/main" id="{BDEBA7FA-4C94-4380-BB0A-16DD2A2551BD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263358" y="608034"/>
              <a:ext cx="9686251" cy="6162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4F678B23-1CEA-415A-8886-7B35382519E1}"/>
                </a:ext>
              </a:extLst>
            </p:cNvPr>
            <p:cNvSpPr/>
            <p:nvPr/>
          </p:nvSpPr>
          <p:spPr>
            <a:xfrm>
              <a:off x="8376507" y="4494784"/>
              <a:ext cx="2951893" cy="21375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oogle Shape;574;g3b7110cd72a_0_1085" title="IPA-103_OF_MS1_500x_right_fullunet.png">
              <a:extLst>
                <a:ext uri="{FF2B5EF4-FFF2-40B4-BE49-F238E27FC236}">
                  <a16:creationId xmlns:a16="http://schemas.microsoft.com/office/drawing/2014/main" id="{916195FA-41BB-478F-8C64-B87E5571F48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93625" r="1228"/>
            <a:stretch/>
          </p:blipFill>
          <p:spPr>
            <a:xfrm>
              <a:off x="9349543" y="219863"/>
              <a:ext cx="1722617" cy="1599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575;g3b7110cd72a_0_1085" title="IPA-103_OF_MS1_500x_right_fullunet.png">
              <a:extLst>
                <a:ext uri="{FF2B5EF4-FFF2-40B4-BE49-F238E27FC236}">
                  <a16:creationId xmlns:a16="http://schemas.microsoft.com/office/drawing/2014/main" id="{18F84E53-7352-44E5-BCB2-A6037C3AE0B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50707" r="43665"/>
            <a:stretch>
              <a:fillRect/>
            </a:stretch>
          </p:blipFill>
          <p:spPr>
            <a:xfrm>
              <a:off x="8572345" y="4293350"/>
              <a:ext cx="1572837" cy="1458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576;g3b7110cd72a_0_1085" title="IPA-103_OF_MS1_500x_right_fullunet.png">
              <a:extLst>
                <a:ext uri="{FF2B5EF4-FFF2-40B4-BE49-F238E27FC236}">
                  <a16:creationId xmlns:a16="http://schemas.microsoft.com/office/drawing/2014/main" id="{FC4C89BB-5F49-4E55-B4E2-286D58C5BF5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36611" r="58090"/>
            <a:stretch>
              <a:fillRect/>
            </a:stretch>
          </p:blipFill>
          <p:spPr>
            <a:xfrm>
              <a:off x="7409573" y="5647273"/>
              <a:ext cx="1416837" cy="123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577;g3b7110cd72a_0_1085" title="IPA-103_OF_MS1_500x_right_fullunet.png">
              <a:extLst>
                <a:ext uri="{FF2B5EF4-FFF2-40B4-BE49-F238E27FC236}">
                  <a16:creationId xmlns:a16="http://schemas.microsoft.com/office/drawing/2014/main" id="{4AC60DE8-F8FD-4894-A357-3719F363D85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79471" r="15304"/>
            <a:stretch>
              <a:fillRect/>
            </a:stretch>
          </p:blipFill>
          <p:spPr>
            <a:xfrm>
              <a:off x="10593552" y="2221924"/>
              <a:ext cx="1637997" cy="14672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578;g3b7110cd72a_0_1085" title="IPA-103_OF_MS1_500x_right_fullunet.png">
              <a:extLst>
                <a:ext uri="{FF2B5EF4-FFF2-40B4-BE49-F238E27FC236}">
                  <a16:creationId xmlns:a16="http://schemas.microsoft.com/office/drawing/2014/main" id="{F0029E61-085D-45FB-9642-68BD10D416F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65144" r="29589"/>
            <a:stretch>
              <a:fillRect/>
            </a:stretch>
          </p:blipFill>
          <p:spPr>
            <a:xfrm>
              <a:off x="8949428" y="2874084"/>
              <a:ext cx="1637997" cy="14768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579;g3b7110cd72a_0_1085" title="IPA-103_OF_MS1_500x_right_fullunet.png">
              <a:extLst>
                <a:ext uri="{FF2B5EF4-FFF2-40B4-BE49-F238E27FC236}">
                  <a16:creationId xmlns:a16="http://schemas.microsoft.com/office/drawing/2014/main" id="{8631848A-E035-46A9-B58C-C2D8EE21CB3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903" r="93104"/>
            <a:stretch/>
          </p:blipFill>
          <p:spPr>
            <a:xfrm>
              <a:off x="129700" y="1215944"/>
              <a:ext cx="1356273" cy="11992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580;g3b7110cd72a_0_1085" title="IPA-103_OF_MS1_500x_right_fullunet.png">
              <a:extLst>
                <a:ext uri="{FF2B5EF4-FFF2-40B4-BE49-F238E27FC236}">
                  <a16:creationId xmlns:a16="http://schemas.microsoft.com/office/drawing/2014/main" id="{5148DE7A-1493-4886-B76E-ECE1FB57014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8345" r="86562"/>
            <a:stretch/>
          </p:blipFill>
          <p:spPr>
            <a:xfrm>
              <a:off x="229412" y="2359136"/>
              <a:ext cx="1256561" cy="1340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581;g3b7110cd72a_0_1085" title="IPA-103_OF_MS1_500x_right_fullunet.png">
              <a:extLst>
                <a:ext uri="{FF2B5EF4-FFF2-40B4-BE49-F238E27FC236}">
                  <a16:creationId xmlns:a16="http://schemas.microsoft.com/office/drawing/2014/main" id="{490B5F8A-DA0C-4A13-9612-1C688729591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2293" r="72224"/>
            <a:stretch/>
          </p:blipFill>
          <p:spPr>
            <a:xfrm>
              <a:off x="873800" y="4805061"/>
              <a:ext cx="1356303" cy="13301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582;g3b7110cd72a_0_1085" title="IPA-103_OF_MS1_500x_right_fullunet.png">
              <a:extLst>
                <a:ext uri="{FF2B5EF4-FFF2-40B4-BE49-F238E27FC236}">
                  <a16:creationId xmlns:a16="http://schemas.microsoft.com/office/drawing/2014/main" id="{8A26A275-2533-4551-BD8C-7C41666B4F9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9377" r="65143"/>
            <a:stretch/>
          </p:blipFill>
          <p:spPr>
            <a:xfrm>
              <a:off x="2319721" y="5673614"/>
              <a:ext cx="1356303" cy="123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583;g3b7110cd72a_0_1085" title="IPA-103_OF_MS1_500x_right_fullunet.png">
              <a:extLst>
                <a:ext uri="{FF2B5EF4-FFF2-40B4-BE49-F238E27FC236}">
                  <a16:creationId xmlns:a16="http://schemas.microsoft.com/office/drawing/2014/main" id="{2D3178A4-DEAC-4051-8232-4C3C2DFBE25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4945" r="78981"/>
            <a:stretch/>
          </p:blipFill>
          <p:spPr>
            <a:xfrm>
              <a:off x="416616" y="3674820"/>
              <a:ext cx="1481303" cy="12008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584;g3b7110cd72a_0_1085">
              <a:extLst>
                <a:ext uri="{FF2B5EF4-FFF2-40B4-BE49-F238E27FC236}">
                  <a16:creationId xmlns:a16="http://schemas.microsoft.com/office/drawing/2014/main" id="{C76F168E-211A-4D71-97F1-645B94F79C5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76269" t="69639" b="2047"/>
            <a:stretch>
              <a:fillRect/>
            </a:stretch>
          </p:blipFill>
          <p:spPr>
            <a:xfrm>
              <a:off x="10068802" y="5222243"/>
              <a:ext cx="2123198" cy="16115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Google Shape;585;g3b7110cd72a_0_1085">
              <a:extLst>
                <a:ext uri="{FF2B5EF4-FFF2-40B4-BE49-F238E27FC236}">
                  <a16:creationId xmlns:a16="http://schemas.microsoft.com/office/drawing/2014/main" id="{27C855DF-3B9C-42BA-BCC4-365DE35A50AB}"/>
                </a:ext>
              </a:extLst>
            </p:cNvPr>
            <p:cNvSpPr txBox="1">
              <a:spLocks/>
            </p:cNvSpPr>
            <p:nvPr/>
          </p:nvSpPr>
          <p:spPr>
            <a:xfrm>
              <a:off x="8956578" y="6437926"/>
              <a:ext cx="2657400" cy="327900"/>
            </a:xfrm>
            <a:prstGeom prst="rect">
              <a:avLst/>
            </a:prstGeom>
          </p:spPr>
          <p:txBody>
            <a:bodyPr spcFirstLastPara="1" wrap="square" lIns="91425" tIns="45700" rIns="91425" bIns="45700" anchor="t" anchorCtr="0">
              <a:noAutofit/>
            </a:bodyPr>
            <a:lstStyle>
              <a:defPPr>
                <a:defRPr kern="0"/>
              </a:defPPr>
            </a:lstStyle>
            <a:p>
              <a:pPr algn="r" rtl="0">
                <a:buClr>
                  <a:srgbClr val="000000"/>
                </a:buClr>
                <a:buFont typeface="Arial"/>
                <a:buNone/>
              </a:pPr>
              <a:endParaRPr lang="de-DE" dirty="0"/>
            </a:p>
          </p:txBody>
        </p:sp>
        <p:pic>
          <p:nvPicPr>
            <p:cNvPr id="30" name="Google Shape;577;g3b7110cd72a_0_1085" title="IPA-103_OF_MS1_500x_right_fullunet.png">
              <a:extLst>
                <a:ext uri="{FF2B5EF4-FFF2-40B4-BE49-F238E27FC236}">
                  <a16:creationId xmlns:a16="http://schemas.microsoft.com/office/drawing/2014/main" id="{50BDB345-AD57-4C33-850D-2808ACA93B2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86492" r="8216"/>
            <a:stretch>
              <a:fillRect/>
            </a:stretch>
          </p:blipFill>
          <p:spPr>
            <a:xfrm>
              <a:off x="5044673" y="469717"/>
              <a:ext cx="1356273" cy="130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578;g3b7110cd72a_0_1085" title="IPA-103_OF_MS1_500x_right_fullunet.png">
              <a:extLst>
                <a:ext uri="{FF2B5EF4-FFF2-40B4-BE49-F238E27FC236}">
                  <a16:creationId xmlns:a16="http://schemas.microsoft.com/office/drawing/2014/main" id="{C3E20B83-D714-42CB-BA84-2FACA4E2492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72396" r="22655"/>
            <a:stretch>
              <a:fillRect/>
            </a:stretch>
          </p:blipFill>
          <p:spPr>
            <a:xfrm>
              <a:off x="5071864" y="1884617"/>
              <a:ext cx="1256562" cy="12924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575;g3b7110cd72a_0_1085" title="IPA-103_OF_MS1_500x_right_fullunet.png">
              <a:extLst>
                <a:ext uri="{FF2B5EF4-FFF2-40B4-BE49-F238E27FC236}">
                  <a16:creationId xmlns:a16="http://schemas.microsoft.com/office/drawing/2014/main" id="{1738EFF6-CB9D-4D03-B2FF-90E1907376A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58016" t="57" r="36716" b="-57"/>
            <a:stretch/>
          </p:blipFill>
          <p:spPr>
            <a:xfrm>
              <a:off x="5071865" y="3219449"/>
              <a:ext cx="1256561" cy="1199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576;g3b7110cd72a_0_1085" title="IPA-103_OF_MS1_500x_right_fullunet.png">
              <a:extLst>
                <a:ext uri="{FF2B5EF4-FFF2-40B4-BE49-F238E27FC236}">
                  <a16:creationId xmlns:a16="http://schemas.microsoft.com/office/drawing/2014/main" id="{85244B05-56D2-49C0-8875-A9F49F20FA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43561" r="51213"/>
            <a:stretch>
              <a:fillRect/>
            </a:stretch>
          </p:blipFill>
          <p:spPr>
            <a:xfrm>
              <a:off x="5010587" y="4398493"/>
              <a:ext cx="1317839" cy="10690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object 2">
            <a:extLst>
              <a:ext uri="{FF2B5EF4-FFF2-40B4-BE49-F238E27FC236}">
                <a16:creationId xmlns:a16="http://schemas.microsoft.com/office/drawing/2014/main" id="{FC14C80C-7E07-49B0-9976-C55E43451958}"/>
              </a:ext>
            </a:extLst>
          </p:cNvPr>
          <p:cNvSpPr/>
          <p:nvPr/>
        </p:nvSpPr>
        <p:spPr>
          <a:xfrm>
            <a:off x="2864879" y="-8620"/>
            <a:ext cx="2793221" cy="874186"/>
          </a:xfrm>
          <a:custGeom>
            <a:avLst/>
            <a:gdLst/>
            <a:ahLst/>
            <a:cxnLst/>
            <a:rect l="l" t="t" r="r" b="b"/>
            <a:pathLst>
              <a:path w="3104515" h="1057910">
                <a:moveTo>
                  <a:pt x="3104387" y="0"/>
                </a:moveTo>
                <a:lnTo>
                  <a:pt x="0" y="0"/>
                </a:lnTo>
                <a:lnTo>
                  <a:pt x="0" y="1057656"/>
                </a:lnTo>
                <a:lnTo>
                  <a:pt x="3104387" y="1057656"/>
                </a:lnTo>
                <a:lnTo>
                  <a:pt x="3104387" y="0"/>
                </a:lnTo>
                <a:close/>
              </a:path>
            </a:pathLst>
          </a:custGeom>
          <a:solidFill>
            <a:srgbClr val="546C95"/>
          </a:solidFill>
        </p:spPr>
        <p:txBody>
          <a:bodyPr wrap="square" lIns="0" tIns="0" rIns="0" bIns="0" rtlCol="0" anchor="ctr"/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Risszählung</a:t>
            </a:r>
          </a:p>
        </p:txBody>
      </p:sp>
      <p:sp>
        <p:nvSpPr>
          <p:cNvPr id="37" name="Inhaltsplatzhalter 7">
            <a:extLst>
              <a:ext uri="{FF2B5EF4-FFF2-40B4-BE49-F238E27FC236}">
                <a16:creationId xmlns:a16="http://schemas.microsoft.com/office/drawing/2014/main" id="{F527F408-AE7A-4876-98B8-F0F6C0C60C29}"/>
              </a:ext>
            </a:extLst>
          </p:cNvPr>
          <p:cNvSpPr txBox="1">
            <a:spLocks/>
          </p:cNvSpPr>
          <p:nvPr/>
        </p:nvSpPr>
        <p:spPr>
          <a:xfrm>
            <a:off x="61844" y="865566"/>
            <a:ext cx="5043556" cy="79178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41">
              <a:spcBef>
                <a:spcPts val="375"/>
              </a:spcBef>
              <a:defRPr/>
            </a:pPr>
            <a:r>
              <a:rPr lang="de-DE" sz="1600" kern="1200" dirty="0">
                <a:solidFill>
                  <a:prstClr val="black"/>
                </a:solidFill>
                <a:latin typeface="Bosch Office Sans"/>
              </a:rPr>
              <a:t>Deep Learning U-Net Autoencoder in der Werkstofftechnik zur Bestimmung der Qualität von Chromschichten</a:t>
            </a:r>
          </a:p>
        </p:txBody>
      </p:sp>
      <p:pic>
        <p:nvPicPr>
          <p:cNvPr id="38" name="Google Shape;332;g3b7110cd72a_0_334">
            <a:extLst>
              <a:ext uri="{FF2B5EF4-FFF2-40B4-BE49-F238E27FC236}">
                <a16:creationId xmlns:a16="http://schemas.microsoft.com/office/drawing/2014/main" id="{37A9EB9A-7C81-4D08-95AB-DE026149ADD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1634" y="14484"/>
            <a:ext cx="2077211" cy="112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336;g3b7110cd72a_0_334">
            <a:extLst>
              <a:ext uri="{FF2B5EF4-FFF2-40B4-BE49-F238E27FC236}">
                <a16:creationId xmlns:a16="http://schemas.microsoft.com/office/drawing/2014/main" id="{06E08F67-3D03-486D-9E6A-71C2522B054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61616" y="14539"/>
            <a:ext cx="2080211" cy="11291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" name="Google Shape;337;g3b7110cd72a_0_334">
            <a:extLst>
              <a:ext uri="{FF2B5EF4-FFF2-40B4-BE49-F238E27FC236}">
                <a16:creationId xmlns:a16="http://schemas.microsoft.com/office/drawing/2014/main" id="{E627194D-F1BE-4E3F-A8F6-FA7210716531}"/>
              </a:ext>
            </a:extLst>
          </p:cNvPr>
          <p:cNvCxnSpPr/>
          <p:nvPr/>
        </p:nvCxnSpPr>
        <p:spPr>
          <a:xfrm>
            <a:off x="6861616" y="592288"/>
            <a:ext cx="2080189" cy="0"/>
          </a:xfrm>
          <a:prstGeom prst="straightConnector1">
            <a:avLst/>
          </a:prstGeom>
          <a:noFill/>
          <a:ln w="17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" name="Google Shape;338;g3b7110cd72a_0_334">
            <a:extLst>
              <a:ext uri="{FF2B5EF4-FFF2-40B4-BE49-F238E27FC236}">
                <a16:creationId xmlns:a16="http://schemas.microsoft.com/office/drawing/2014/main" id="{4430F3EB-9A39-4706-B19C-8AB315D9C555}"/>
              </a:ext>
            </a:extLst>
          </p:cNvPr>
          <p:cNvSpPr txBox="1"/>
          <p:nvPr/>
        </p:nvSpPr>
        <p:spPr>
          <a:xfrm>
            <a:off x="7220408" y="587962"/>
            <a:ext cx="159406" cy="34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925" tIns="42450" rIns="84925" bIns="424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71" b="0" i="0" u="none" strike="noStrike" cap="none" dirty="0">
                <a:solidFill>
                  <a:srgbClr val="111F6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 dirty="0"/>
          </a:p>
        </p:txBody>
      </p:sp>
      <p:sp>
        <p:nvSpPr>
          <p:cNvPr id="46" name="Google Shape;339;g3b7110cd72a_0_334">
            <a:extLst>
              <a:ext uri="{FF2B5EF4-FFF2-40B4-BE49-F238E27FC236}">
                <a16:creationId xmlns:a16="http://schemas.microsoft.com/office/drawing/2014/main" id="{9295E93F-E6F7-464E-BE8B-A166D146AA3B}"/>
              </a:ext>
            </a:extLst>
          </p:cNvPr>
          <p:cNvSpPr txBox="1"/>
          <p:nvPr/>
        </p:nvSpPr>
        <p:spPr>
          <a:xfrm>
            <a:off x="7559239" y="587962"/>
            <a:ext cx="159406" cy="34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925" tIns="42450" rIns="84925" bIns="424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71" dirty="0">
                <a:solidFill>
                  <a:srgbClr val="111F6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 dirty="0"/>
          </a:p>
        </p:txBody>
      </p:sp>
      <p:sp>
        <p:nvSpPr>
          <p:cNvPr id="47" name="Google Shape;340;g3b7110cd72a_0_334">
            <a:extLst>
              <a:ext uri="{FF2B5EF4-FFF2-40B4-BE49-F238E27FC236}">
                <a16:creationId xmlns:a16="http://schemas.microsoft.com/office/drawing/2014/main" id="{911C54BB-6929-4682-A029-E1A03B718E36}"/>
              </a:ext>
            </a:extLst>
          </p:cNvPr>
          <p:cNvSpPr txBox="1"/>
          <p:nvPr/>
        </p:nvSpPr>
        <p:spPr>
          <a:xfrm>
            <a:off x="7922548" y="587962"/>
            <a:ext cx="116604" cy="34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925" tIns="42450" rIns="84925" bIns="424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71" dirty="0">
                <a:solidFill>
                  <a:srgbClr val="111F6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 dirty="0"/>
          </a:p>
        </p:txBody>
      </p:sp>
      <p:sp>
        <p:nvSpPr>
          <p:cNvPr id="48" name="Google Shape;341;g3b7110cd72a_0_334">
            <a:extLst>
              <a:ext uri="{FF2B5EF4-FFF2-40B4-BE49-F238E27FC236}">
                <a16:creationId xmlns:a16="http://schemas.microsoft.com/office/drawing/2014/main" id="{B93BF63F-1D16-40CE-BFE5-01441A7ADCBB}"/>
              </a:ext>
            </a:extLst>
          </p:cNvPr>
          <p:cNvSpPr txBox="1"/>
          <p:nvPr/>
        </p:nvSpPr>
        <p:spPr>
          <a:xfrm>
            <a:off x="8346992" y="587962"/>
            <a:ext cx="159406" cy="34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925" tIns="42450" rIns="84925" bIns="424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71">
                <a:solidFill>
                  <a:srgbClr val="111F6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/>
          </a:p>
        </p:txBody>
      </p:sp>
      <p:sp>
        <p:nvSpPr>
          <p:cNvPr id="49" name="Google Shape;342;g3b7110cd72a_0_334">
            <a:extLst>
              <a:ext uri="{FF2B5EF4-FFF2-40B4-BE49-F238E27FC236}">
                <a16:creationId xmlns:a16="http://schemas.microsoft.com/office/drawing/2014/main" id="{49848213-91B3-4CD5-9EBF-D7D219647AD6}"/>
              </a:ext>
            </a:extLst>
          </p:cNvPr>
          <p:cNvSpPr txBox="1"/>
          <p:nvPr/>
        </p:nvSpPr>
        <p:spPr>
          <a:xfrm>
            <a:off x="8714249" y="587962"/>
            <a:ext cx="159406" cy="34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925" tIns="42450" rIns="84925" bIns="424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71" dirty="0">
                <a:solidFill>
                  <a:srgbClr val="111F6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 dirty="0"/>
          </a:p>
        </p:txBody>
      </p:sp>
      <p:cxnSp>
        <p:nvCxnSpPr>
          <p:cNvPr id="41" name="Google Shape;343;g3b7110cd72a_0_334">
            <a:extLst>
              <a:ext uri="{FF2B5EF4-FFF2-40B4-BE49-F238E27FC236}">
                <a16:creationId xmlns:a16="http://schemas.microsoft.com/office/drawing/2014/main" id="{52C2C0E1-0852-4995-B223-7A358EE59818}"/>
              </a:ext>
            </a:extLst>
          </p:cNvPr>
          <p:cNvCxnSpPr/>
          <p:nvPr/>
        </p:nvCxnSpPr>
        <p:spPr>
          <a:xfrm>
            <a:off x="6861616" y="274052"/>
            <a:ext cx="2080189" cy="0"/>
          </a:xfrm>
          <a:prstGeom prst="straightConnector1">
            <a:avLst/>
          </a:prstGeom>
          <a:noFill/>
          <a:ln w="17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" name="Google Shape;344;g3b7110cd72a_0_334">
            <a:extLst>
              <a:ext uri="{FF2B5EF4-FFF2-40B4-BE49-F238E27FC236}">
                <a16:creationId xmlns:a16="http://schemas.microsoft.com/office/drawing/2014/main" id="{8AEDC8FD-1DA2-4525-A320-A2D54CA55224}"/>
              </a:ext>
            </a:extLst>
          </p:cNvPr>
          <p:cNvCxnSpPr/>
          <p:nvPr/>
        </p:nvCxnSpPr>
        <p:spPr>
          <a:xfrm>
            <a:off x="6861616" y="894825"/>
            <a:ext cx="2080189" cy="0"/>
          </a:xfrm>
          <a:prstGeom prst="straightConnector1">
            <a:avLst/>
          </a:prstGeom>
          <a:noFill/>
          <a:ln w="17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20766175-2F88-42D5-BDF4-E064A8B4734C}"/>
              </a:ext>
            </a:extLst>
          </p:cNvPr>
          <p:cNvSpPr txBox="1"/>
          <p:nvPr/>
        </p:nvSpPr>
        <p:spPr>
          <a:xfrm>
            <a:off x="6861633" y="1104998"/>
            <a:ext cx="20772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/>
              <a:t>Zählung der Rissanzahl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72E144CA-D617-4802-819D-B8AAF1FC60EF}"/>
              </a:ext>
            </a:extLst>
          </p:cNvPr>
          <p:cNvSpPr txBox="1"/>
          <p:nvPr/>
        </p:nvSpPr>
        <p:spPr>
          <a:xfrm>
            <a:off x="8175382" y="1639730"/>
            <a:ext cx="10448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/>
              <a:t>Output:</a:t>
            </a:r>
            <a:br>
              <a:rPr lang="de-DE" sz="1100" dirty="0"/>
            </a:br>
            <a:r>
              <a:rPr lang="de-DE" sz="1100" dirty="0"/>
              <a:t>Binäre Maske</a:t>
            </a:r>
          </a:p>
        </p:txBody>
      </p:sp>
    </p:spTree>
    <p:extLst>
      <p:ext uri="{BB962C8B-B14F-4D97-AF65-F5344CB8AC3E}">
        <p14:creationId xmlns:p14="http://schemas.microsoft.com/office/powerpoint/2010/main" val="1670501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2F445BF6-55BC-47A5-9A31-FABD11D332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1" t="28453" r="25032" b="24814"/>
          <a:stretch/>
        </p:blipFill>
        <p:spPr>
          <a:xfrm>
            <a:off x="0" y="2739833"/>
            <a:ext cx="4648200" cy="2403667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BBC02D7-0407-4CCE-8D8A-CEC17868B1F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59" t="62451" r="23319" b="12551"/>
          <a:stretch/>
        </p:blipFill>
        <p:spPr>
          <a:xfrm>
            <a:off x="4315451" y="2724149"/>
            <a:ext cx="4791973" cy="23145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F9579F1-38B0-4721-A6C2-E3BF769B8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91" y="1445397"/>
            <a:ext cx="3964716" cy="1231106"/>
          </a:xfrm>
        </p:spPr>
        <p:txBody>
          <a:bodyPr/>
          <a:lstStyle/>
          <a:p>
            <a:r>
              <a:rPr lang="de-DE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1. YOLO-Algorithmus (</a:t>
            </a:r>
            <a:r>
              <a:rPr lang="de-DE" sz="1600" b="0" kern="1200" dirty="0" err="1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You</a:t>
            </a:r>
            <a:r>
              <a:rPr lang="de-DE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 </a:t>
            </a:r>
            <a:r>
              <a:rPr lang="de-DE" sz="1600" b="0" kern="1200" dirty="0" err="1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Only</a:t>
            </a:r>
            <a:r>
              <a:rPr lang="de-DE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 Look </a:t>
            </a:r>
            <a:r>
              <a:rPr lang="de-DE" sz="1600" b="0" kern="1200" dirty="0" err="1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Once</a:t>
            </a:r>
            <a:r>
              <a:rPr lang="de-DE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) </a:t>
            </a:r>
            <a:br>
              <a:rPr lang="de-DE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</a:br>
            <a:r>
              <a:rPr lang="de-DE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zur Lokalisierung im 2D-Raum (Bild)</a:t>
            </a:r>
            <a:br>
              <a:rPr lang="de-DE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</a:br>
            <a:r>
              <a:rPr lang="de-DE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-&gt; Umrechnung in 3D-Position</a:t>
            </a:r>
            <a:br>
              <a:rPr lang="de-DE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</a:br>
            <a:r>
              <a:rPr lang="de-DE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2. Programmstart ohne auf Objekt </a:t>
            </a:r>
            <a:br>
              <a:rPr lang="de-DE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</a:br>
            <a:r>
              <a:rPr lang="de-DE" sz="16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zu klicken, da steril 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10C4961A-D1EE-4C8D-99B6-913D07574991}"/>
              </a:ext>
            </a:extLst>
          </p:cNvPr>
          <p:cNvSpPr/>
          <p:nvPr/>
        </p:nvSpPr>
        <p:spPr>
          <a:xfrm>
            <a:off x="344391" y="45382"/>
            <a:ext cx="3429000" cy="1103851"/>
          </a:xfrm>
          <a:custGeom>
            <a:avLst/>
            <a:gdLst/>
            <a:ahLst/>
            <a:cxnLst/>
            <a:rect l="l" t="t" r="r" b="b"/>
            <a:pathLst>
              <a:path w="3104515" h="1057910">
                <a:moveTo>
                  <a:pt x="3104387" y="0"/>
                </a:moveTo>
                <a:lnTo>
                  <a:pt x="0" y="0"/>
                </a:lnTo>
                <a:lnTo>
                  <a:pt x="0" y="1057656"/>
                </a:lnTo>
                <a:lnTo>
                  <a:pt x="3104387" y="1057656"/>
                </a:lnTo>
                <a:lnTo>
                  <a:pt x="3104387" y="0"/>
                </a:lnTo>
                <a:close/>
              </a:path>
            </a:pathLst>
          </a:custGeom>
          <a:solidFill>
            <a:srgbClr val="546C95"/>
          </a:solidFill>
        </p:spPr>
        <p:txBody>
          <a:bodyPr wrap="square" lIns="0" tIns="0" rIns="0" bIns="0" rtlCol="0" anchor="ctr"/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Lokalisierung in 3D-Tiefendaten</a:t>
            </a:r>
            <a:endParaRPr sz="2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DFEF558-251D-4059-B83C-92093F02DD6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19" b="53574"/>
          <a:stretch/>
        </p:blipFill>
        <p:spPr>
          <a:xfrm>
            <a:off x="4309107" y="425257"/>
            <a:ext cx="4798317" cy="2298892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C7946F14-B03E-42E6-AB38-31FC10E22F0E}"/>
              </a:ext>
            </a:extLst>
          </p:cNvPr>
          <p:cNvSpPr txBox="1"/>
          <p:nvPr/>
        </p:nvSpPr>
        <p:spPr>
          <a:xfrm>
            <a:off x="2529325" y="4344771"/>
            <a:ext cx="3565908" cy="64633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sz="1800" b="0" kern="1200" dirty="0" err="1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Labelstudio</a:t>
            </a:r>
            <a:r>
              <a:rPr lang="de-DE" sz="18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 für Trainingsdaten</a:t>
            </a:r>
            <a:br>
              <a:rPr lang="de-DE" sz="18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</a:br>
            <a:r>
              <a:rPr lang="de-DE" sz="1800" b="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Python Training und C/C++ Inferenz</a:t>
            </a:r>
            <a:endParaRPr lang="de-DE" dirty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1A87232-8DED-43F6-B6FD-34AF3A753AD8}"/>
              </a:ext>
            </a:extLst>
          </p:cNvPr>
          <p:cNvSpPr txBox="1">
            <a:spLocks/>
          </p:cNvSpPr>
          <p:nvPr/>
        </p:nvSpPr>
        <p:spPr>
          <a:xfrm>
            <a:off x="344391" y="1199176"/>
            <a:ext cx="34290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ahoma"/>
                <a:ea typeface="+mj-ea"/>
                <a:cs typeface="Tahoma"/>
              </a:defRPr>
            </a:lvl1pPr>
          </a:lstStyle>
          <a:p>
            <a:pPr algn="ctr"/>
            <a:r>
              <a:rPr lang="de-DE" sz="1600" kern="1200" dirty="0">
                <a:solidFill>
                  <a:prstClr val="black"/>
                </a:solidFill>
                <a:latin typeface="Bosch Office Sans"/>
                <a:ea typeface="+mn-ea"/>
                <a:cs typeface="+mn-cs"/>
              </a:rPr>
              <a:t>KI-Projekt in der Medizin</a:t>
            </a:r>
          </a:p>
        </p:txBody>
      </p:sp>
    </p:spTree>
    <p:extLst>
      <p:ext uri="{BB962C8B-B14F-4D97-AF65-F5344CB8AC3E}">
        <p14:creationId xmlns:p14="http://schemas.microsoft.com/office/powerpoint/2010/main" val="4147959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26379" y="1667255"/>
            <a:ext cx="3104515" cy="1057910"/>
          </a:xfrm>
          <a:custGeom>
            <a:avLst/>
            <a:gdLst/>
            <a:ahLst/>
            <a:cxnLst/>
            <a:rect l="l" t="t" r="r" b="b"/>
            <a:pathLst>
              <a:path w="3104515" h="1057910">
                <a:moveTo>
                  <a:pt x="3104387" y="0"/>
                </a:moveTo>
                <a:lnTo>
                  <a:pt x="0" y="0"/>
                </a:lnTo>
                <a:lnTo>
                  <a:pt x="0" y="1057656"/>
                </a:lnTo>
                <a:lnTo>
                  <a:pt x="3104387" y="1057656"/>
                </a:lnTo>
                <a:lnTo>
                  <a:pt x="3104387" y="0"/>
                </a:lnTo>
                <a:close/>
              </a:path>
            </a:pathLst>
          </a:custGeom>
          <a:solidFill>
            <a:srgbClr val="546C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2744" rIns="0" bIns="0" rtlCol="0">
            <a:spAutoFit/>
          </a:bodyPr>
          <a:lstStyle/>
          <a:p>
            <a:pPr marL="43688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Heart</a:t>
            </a:r>
            <a:r>
              <a:rPr spc="-170" dirty="0"/>
              <a:t> </a:t>
            </a:r>
            <a:r>
              <a:rPr spc="-10" dirty="0"/>
              <a:t>Attack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58815" y="2882010"/>
            <a:ext cx="32353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434343"/>
                </a:solidFill>
                <a:latin typeface="Calibri"/>
                <a:cs typeface="Calibri"/>
              </a:rPr>
              <a:t>Untersuchung</a:t>
            </a:r>
            <a:r>
              <a:rPr sz="1800" spc="19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434343"/>
                </a:solidFill>
                <a:latin typeface="Calibri"/>
                <a:cs typeface="Calibri"/>
              </a:rPr>
              <a:t>von</a:t>
            </a:r>
            <a:r>
              <a:rPr sz="1800" spc="18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medizinischen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Daten</a:t>
            </a:r>
            <a:r>
              <a:rPr sz="1800" spc="18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und</a:t>
            </a:r>
            <a:r>
              <a:rPr sz="1800" spc="18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Vorhersage</a:t>
            </a:r>
            <a:r>
              <a:rPr sz="1800" spc="16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mittels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Gaussian</a:t>
            </a:r>
            <a:r>
              <a:rPr sz="1800" spc="17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Naive</a:t>
            </a:r>
            <a:r>
              <a:rPr sz="1800" spc="15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Bayes</a:t>
            </a:r>
            <a:endParaRPr sz="1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in</a:t>
            </a:r>
            <a:r>
              <a:rPr sz="1800" spc="11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Python</a:t>
            </a:r>
            <a:r>
              <a:rPr sz="1800" spc="8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(VSCode)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239" y="56582"/>
            <a:ext cx="4938395" cy="5086985"/>
            <a:chOff x="62239" y="56582"/>
            <a:chExt cx="4938395" cy="50869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39" y="56582"/>
              <a:ext cx="3457130" cy="25292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2203" y="2572511"/>
              <a:ext cx="3368040" cy="25709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18275"/>
            <a:ext cx="3104515" cy="826135"/>
          </a:xfrm>
          <a:prstGeom prst="rect">
            <a:avLst/>
          </a:prstGeom>
          <a:solidFill>
            <a:srgbClr val="546C95"/>
          </a:solidFill>
        </p:spPr>
        <p:txBody>
          <a:bodyPr vert="horz" wrap="square" lIns="0" tIns="156210" rIns="0" bIns="0" rtlCol="0">
            <a:spAutoFit/>
          </a:bodyPr>
          <a:lstStyle/>
          <a:p>
            <a:pPr marL="604520">
              <a:lnSpc>
                <a:spcPct val="100000"/>
              </a:lnSpc>
              <a:spcBef>
                <a:spcPts val="1230"/>
              </a:spcBef>
            </a:pPr>
            <a:r>
              <a:rPr spc="-10" dirty="0"/>
              <a:t>Hackathon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1478109"/>
            <a:ext cx="8879205" cy="2585085"/>
            <a:chOff x="0" y="1464563"/>
            <a:chExt cx="8879205" cy="25850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43683"/>
              <a:ext cx="1071372" cy="10561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404" y="1464563"/>
              <a:ext cx="8694420" cy="258470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727830" y="3938117"/>
            <a:ext cx="4434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144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434343"/>
                </a:solidFill>
                <a:latin typeface="Calibri"/>
                <a:cs typeface="Calibri"/>
              </a:rPr>
              <a:t>Untersuchung</a:t>
            </a:r>
            <a:r>
              <a:rPr sz="1800" spc="13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434343"/>
                </a:solidFill>
                <a:latin typeface="Calibri"/>
                <a:cs typeface="Calibri"/>
              </a:rPr>
              <a:t>und</a:t>
            </a:r>
            <a:r>
              <a:rPr sz="1800" spc="13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434343"/>
                </a:solidFill>
                <a:latin typeface="Calibri"/>
                <a:cs typeface="Calibri"/>
              </a:rPr>
              <a:t>Vorhersage</a:t>
            </a:r>
            <a:r>
              <a:rPr sz="1800" spc="11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434343"/>
                </a:solidFill>
                <a:latin typeface="Calibri"/>
                <a:cs typeface="Calibri"/>
              </a:rPr>
              <a:t>einer</a:t>
            </a:r>
            <a:r>
              <a:rPr sz="1800" spc="13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Zeitreihe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mit</a:t>
            </a:r>
            <a:r>
              <a:rPr sz="1800" spc="13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dem</a:t>
            </a:r>
            <a:r>
              <a:rPr sz="1800" spc="114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Random</a:t>
            </a:r>
            <a:r>
              <a:rPr sz="1800" spc="11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Forest</a:t>
            </a:r>
            <a:r>
              <a:rPr sz="1800" spc="12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in</a:t>
            </a:r>
            <a:r>
              <a:rPr sz="1800" spc="13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Python</a:t>
            </a:r>
            <a:r>
              <a:rPr sz="1800" spc="114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(VSCode)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418" y="4112767"/>
            <a:ext cx="1556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Fehlende</a:t>
            </a:r>
            <a:r>
              <a:rPr sz="1800" spc="15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Werte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76F96F1-3FD5-4AEC-8B0C-10D3AAACF56C}"/>
              </a:ext>
            </a:extLst>
          </p:cNvPr>
          <p:cNvSpPr txBox="1"/>
          <p:nvPr/>
        </p:nvSpPr>
        <p:spPr>
          <a:xfrm>
            <a:off x="3768724" y="37354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de-DE" sz="1800" dirty="0">
                <a:solidFill>
                  <a:srgbClr val="434343"/>
                </a:solidFill>
                <a:latin typeface="Calibri"/>
                <a:cs typeface="Calibri"/>
              </a:rPr>
              <a:t>Hochschul-Event</a:t>
            </a:r>
            <a:r>
              <a:rPr lang="de-DE" sz="1800" spc="15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lang="de-DE" sz="1800" dirty="0">
                <a:solidFill>
                  <a:srgbClr val="434343"/>
                </a:solidFill>
                <a:latin typeface="Calibri"/>
                <a:cs typeface="Calibri"/>
              </a:rPr>
              <a:t>zur</a:t>
            </a:r>
            <a:r>
              <a:rPr lang="de-DE" sz="1800" spc="16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lang="de-DE" sz="1800" dirty="0">
                <a:solidFill>
                  <a:srgbClr val="434343"/>
                </a:solidFill>
                <a:latin typeface="Calibri"/>
                <a:cs typeface="Calibri"/>
              </a:rPr>
              <a:t>schnellen</a:t>
            </a:r>
            <a:r>
              <a:rPr lang="de-DE" sz="1800" spc="17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lang="de-DE" sz="1800" spc="-10" dirty="0">
                <a:solidFill>
                  <a:srgbClr val="434343"/>
                </a:solidFill>
                <a:latin typeface="Calibri"/>
                <a:cs typeface="Calibri"/>
              </a:rPr>
              <a:t>Entwicklung</a:t>
            </a:r>
            <a:endParaRPr lang="de-DE" sz="1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lang="de-DE" sz="1800" dirty="0">
                <a:solidFill>
                  <a:srgbClr val="434343"/>
                </a:solidFill>
                <a:latin typeface="Calibri"/>
                <a:cs typeface="Calibri"/>
              </a:rPr>
              <a:t>von</a:t>
            </a:r>
            <a:r>
              <a:rPr lang="de-DE" sz="1800" spc="12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lang="de-DE" sz="1800" dirty="0">
                <a:solidFill>
                  <a:srgbClr val="434343"/>
                </a:solidFill>
                <a:latin typeface="Calibri"/>
                <a:cs typeface="Calibri"/>
              </a:rPr>
              <a:t>innovativen</a:t>
            </a:r>
            <a:r>
              <a:rPr lang="de-DE" sz="1800" spc="9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lang="de-DE" sz="1800" spc="-10" dirty="0">
                <a:solidFill>
                  <a:srgbClr val="434343"/>
                </a:solidFill>
                <a:latin typeface="Calibri"/>
                <a:cs typeface="Calibri"/>
              </a:rPr>
              <a:t>Lösungen.</a:t>
            </a:r>
            <a:endParaRPr lang="de-DE"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67255"/>
            <a:ext cx="1071372" cy="10576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87852" y="144779"/>
            <a:ext cx="3103245" cy="1057910"/>
          </a:xfrm>
          <a:prstGeom prst="rect">
            <a:avLst/>
          </a:prstGeom>
          <a:solidFill>
            <a:srgbClr val="546C95"/>
          </a:solidFill>
        </p:spPr>
        <p:txBody>
          <a:bodyPr vert="horz" wrap="square" lIns="0" tIns="99060" rIns="0" bIns="0" rtlCol="0">
            <a:spAutoFit/>
          </a:bodyPr>
          <a:lstStyle/>
          <a:p>
            <a:pPr marL="868680" marR="558165" indent="-300355">
              <a:lnSpc>
                <a:spcPct val="100000"/>
              </a:lnSpc>
              <a:spcBef>
                <a:spcPts val="780"/>
              </a:spcBef>
            </a:pPr>
            <a:r>
              <a:rPr spc="-55" dirty="0"/>
              <a:t>Kartenspiel </a:t>
            </a:r>
            <a:r>
              <a:rPr spc="-10" dirty="0"/>
              <a:t>Ramsch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6487" y="1815210"/>
            <a:ext cx="36753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2755" marR="5080" indent="-44069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Client</a:t>
            </a:r>
            <a:r>
              <a:rPr sz="1800" spc="12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Server</a:t>
            </a:r>
            <a:r>
              <a:rPr sz="1800" spc="14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textbasiertes</a:t>
            </a:r>
            <a:r>
              <a:rPr sz="1800" spc="14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Kartenspiel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in</a:t>
            </a:r>
            <a:r>
              <a:rPr sz="1800" spc="2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Java</a:t>
            </a:r>
            <a:r>
              <a:rPr sz="1800" spc="4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(Eclipse)</a:t>
            </a:r>
            <a:r>
              <a:rPr sz="1800" spc="3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mit</a:t>
            </a:r>
            <a:r>
              <a:rPr sz="1800" spc="2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50" dirty="0">
                <a:solidFill>
                  <a:srgbClr val="434343"/>
                </a:solidFill>
                <a:latin typeface="Calibri"/>
                <a:cs typeface="Calibri"/>
              </a:rPr>
              <a:t>AI-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Player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432" y="1289302"/>
            <a:ext cx="9095740" cy="3831590"/>
            <a:chOff x="27432" y="1289302"/>
            <a:chExt cx="9095740" cy="38315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8384" y="1289302"/>
              <a:ext cx="3764354" cy="38313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32" y="2820923"/>
              <a:ext cx="5309722" cy="22952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96339"/>
            <a:ext cx="1071372" cy="10576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26379" y="1196339"/>
            <a:ext cx="3104515" cy="1057910"/>
          </a:xfrm>
          <a:prstGeom prst="rect">
            <a:avLst/>
          </a:prstGeom>
          <a:solidFill>
            <a:srgbClr val="546C95"/>
          </a:solidFill>
        </p:spPr>
        <p:txBody>
          <a:bodyPr vert="horz" wrap="square" lIns="0" tIns="99060" rIns="0" bIns="0" rtlCol="0">
            <a:spAutoFit/>
          </a:bodyPr>
          <a:lstStyle/>
          <a:p>
            <a:pPr marL="300990" marR="292735" indent="323215">
              <a:lnSpc>
                <a:spcPct val="100000"/>
              </a:lnSpc>
              <a:spcBef>
                <a:spcPts val="780"/>
              </a:spcBef>
            </a:pPr>
            <a:r>
              <a:rPr spc="-35" dirty="0"/>
              <a:t>Film/Serien </a:t>
            </a:r>
            <a:r>
              <a:rPr spc="-60" dirty="0"/>
              <a:t>Empfehlungen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4608" y="1300353"/>
            <a:ext cx="27470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434343"/>
                </a:solidFill>
                <a:latin typeface="Calibri"/>
                <a:cs typeface="Calibri"/>
              </a:rPr>
              <a:t>Mit</a:t>
            </a:r>
            <a:r>
              <a:rPr sz="1800" spc="2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dem</a:t>
            </a:r>
            <a:r>
              <a:rPr sz="1800" spc="3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Apriori</a:t>
            </a:r>
            <a:r>
              <a:rPr sz="1800" spc="1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Algorithmus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und</a:t>
            </a:r>
            <a:r>
              <a:rPr sz="1800" spc="204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Association</a:t>
            </a:r>
            <a:r>
              <a:rPr sz="1800" spc="18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Mining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in</a:t>
            </a:r>
            <a:r>
              <a:rPr sz="1800" spc="11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Python</a:t>
            </a:r>
            <a:r>
              <a:rPr sz="1800" spc="8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(VSCode)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3295" y="2682239"/>
            <a:ext cx="8217408" cy="1264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8555"/>
            <a:ext cx="5160264" cy="3866388"/>
            <a:chOff x="0" y="638555"/>
            <a:chExt cx="5160264" cy="3866388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667255"/>
              <a:ext cx="1071372" cy="10576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224" y="638555"/>
              <a:ext cx="4892040" cy="38663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26379" y="1667255"/>
            <a:ext cx="3104515" cy="1057910"/>
          </a:xfrm>
          <a:prstGeom prst="rect">
            <a:avLst/>
          </a:prstGeom>
          <a:solidFill>
            <a:srgbClr val="546C95"/>
          </a:solidFill>
        </p:spPr>
        <p:txBody>
          <a:bodyPr vert="horz" wrap="square" lIns="0" tIns="98425" rIns="0" bIns="0" rtlCol="0">
            <a:spAutoFit/>
          </a:bodyPr>
          <a:lstStyle/>
          <a:p>
            <a:pPr marL="537210" marR="146685" indent="-292735">
              <a:lnSpc>
                <a:spcPct val="100000"/>
              </a:lnSpc>
              <a:spcBef>
                <a:spcPts val="775"/>
              </a:spcBef>
            </a:pPr>
            <a:r>
              <a:rPr spc="-145" dirty="0"/>
              <a:t>Buch/Film/Serie </a:t>
            </a:r>
            <a:r>
              <a:rPr spc="-10" dirty="0"/>
              <a:t>Verwaltung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34659" y="2882010"/>
            <a:ext cx="268351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 marR="395605" indent="635" algn="ctr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434343"/>
                </a:solidFill>
                <a:latin typeface="Calibri"/>
                <a:cs typeface="Calibri"/>
              </a:rPr>
              <a:t>Mit</a:t>
            </a:r>
            <a:r>
              <a:rPr sz="1800" spc="2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Java</a:t>
            </a:r>
            <a:r>
              <a:rPr sz="1800" spc="5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Swing</a:t>
            </a:r>
            <a:r>
              <a:rPr sz="1800" spc="5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Calibri"/>
                <a:cs typeface="Calibri"/>
              </a:rPr>
              <a:t>GUI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(Apache</a:t>
            </a:r>
            <a:r>
              <a:rPr sz="1800" spc="155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Netbeans),</a:t>
            </a:r>
            <a:endParaRPr sz="18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</a:pP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Erstellung</a:t>
            </a:r>
            <a:r>
              <a:rPr sz="1800" spc="17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einer</a:t>
            </a:r>
            <a:r>
              <a:rPr sz="1800" spc="14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Calibri"/>
                <a:cs typeface="Calibri"/>
              </a:rPr>
              <a:t>Datenbank,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JDBC</a:t>
            </a:r>
            <a:r>
              <a:rPr sz="1800" spc="21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Verbindung</a:t>
            </a:r>
            <a:r>
              <a:rPr sz="1800" spc="18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Calibri"/>
                <a:cs typeface="Calibri"/>
              </a:rPr>
              <a:t>und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Abfragen</a:t>
            </a:r>
            <a:r>
              <a:rPr sz="1800" spc="15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34343"/>
                </a:solidFill>
                <a:latin typeface="Calibri"/>
                <a:cs typeface="Calibri"/>
              </a:rPr>
              <a:t>mit</a:t>
            </a:r>
            <a:r>
              <a:rPr sz="1800" spc="160" dirty="0">
                <a:solidFill>
                  <a:srgbClr val="434343"/>
                </a:solidFill>
                <a:latin typeface="Calibri"/>
                <a:cs typeface="Calibri"/>
              </a:rPr>
              <a:t> </a:t>
            </a:r>
            <a:r>
              <a:rPr sz="1800" spc="95" dirty="0">
                <a:solidFill>
                  <a:srgbClr val="434343"/>
                </a:solidFill>
                <a:latin typeface="Calibri"/>
                <a:cs typeface="Calibri"/>
              </a:rPr>
              <a:t>SQL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0728" y="846331"/>
            <a:ext cx="4170160" cy="2591088"/>
          </a:xfrm>
          <a:prstGeom prst="rect">
            <a:avLst/>
          </a:prstGeom>
        </p:spPr>
      </p:pic>
      <p:grpSp>
        <p:nvGrpSpPr>
          <p:cNvPr id="7" name="object 3">
            <a:extLst>
              <a:ext uri="{FF2B5EF4-FFF2-40B4-BE49-F238E27FC236}">
                <a16:creationId xmlns:a16="http://schemas.microsoft.com/office/drawing/2014/main" id="{4AD35995-D733-429D-BDA4-0DA5987B30C4}"/>
              </a:ext>
            </a:extLst>
          </p:cNvPr>
          <p:cNvGrpSpPr/>
          <p:nvPr/>
        </p:nvGrpSpPr>
        <p:grpSpPr>
          <a:xfrm>
            <a:off x="0" y="1248520"/>
            <a:ext cx="3970020" cy="3894980"/>
            <a:chOff x="-8792" y="318515"/>
            <a:chExt cx="4580792" cy="4506468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64CADA5-1E04-492B-822B-C62020A317F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472" y="318515"/>
              <a:ext cx="4224528" cy="4506468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5BF6ED32-C0F0-4CE0-98CF-928E577F8EB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8792" y="997691"/>
              <a:ext cx="1071372" cy="1057656"/>
            </a:xfrm>
            <a:prstGeom prst="rect">
              <a:avLst/>
            </a:prstGeom>
          </p:spPr>
        </p:pic>
      </p:grpSp>
      <p:sp>
        <p:nvSpPr>
          <p:cNvPr id="12" name="object 2">
            <a:extLst>
              <a:ext uri="{FF2B5EF4-FFF2-40B4-BE49-F238E27FC236}">
                <a16:creationId xmlns:a16="http://schemas.microsoft.com/office/drawing/2014/main" id="{88A2FFAE-4C1F-4E86-A17D-96C94D81CE46}"/>
              </a:ext>
            </a:extLst>
          </p:cNvPr>
          <p:cNvSpPr/>
          <p:nvPr/>
        </p:nvSpPr>
        <p:spPr>
          <a:xfrm>
            <a:off x="316932" y="139446"/>
            <a:ext cx="2487101" cy="933515"/>
          </a:xfrm>
          <a:custGeom>
            <a:avLst/>
            <a:gdLst/>
            <a:ahLst/>
            <a:cxnLst/>
            <a:rect l="l" t="t" r="r" b="b"/>
            <a:pathLst>
              <a:path w="3104515" h="1057910">
                <a:moveTo>
                  <a:pt x="3104387" y="0"/>
                </a:moveTo>
                <a:lnTo>
                  <a:pt x="0" y="0"/>
                </a:lnTo>
                <a:lnTo>
                  <a:pt x="0" y="1057656"/>
                </a:lnTo>
                <a:lnTo>
                  <a:pt x="3104387" y="1057656"/>
                </a:lnTo>
                <a:lnTo>
                  <a:pt x="3104387" y="0"/>
                </a:lnTo>
                <a:close/>
              </a:path>
            </a:pathLst>
          </a:custGeom>
          <a:solidFill>
            <a:srgbClr val="546C95"/>
          </a:solidFill>
        </p:spPr>
        <p:txBody>
          <a:bodyPr wrap="square" lIns="0" tIns="0" rIns="0" bIns="0" rtlCol="0" anchor="ctr"/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Akkubohrer Projekt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3CEDAF8-2912-4041-9C73-A051491725E2}"/>
              </a:ext>
            </a:extLst>
          </p:cNvPr>
          <p:cNvSpPr txBox="1"/>
          <p:nvPr/>
        </p:nvSpPr>
        <p:spPr>
          <a:xfrm>
            <a:off x="4038600" y="3638550"/>
            <a:ext cx="510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Bosch Office Sans"/>
              </a:rPr>
              <a:t>Bestimmung des Materials in Python (</a:t>
            </a:r>
            <a:r>
              <a:rPr lang="de-DE" sz="1600" dirty="0" err="1">
                <a:latin typeface="Bosch Office Sans"/>
              </a:rPr>
              <a:t>VSCode</a:t>
            </a:r>
            <a:r>
              <a:rPr lang="de-DE" sz="1600" dirty="0">
                <a:latin typeface="Bosch Office Sans"/>
              </a:rPr>
              <a:t>) anhand Sensoren (Strom, Spannung, Geräusch) während einer Bohrung mit Ergebnisvisualisierung durch eine GUI (</a:t>
            </a:r>
            <a:r>
              <a:rPr lang="de-DE" sz="1600" dirty="0" err="1">
                <a:latin typeface="Bosch Office Sans"/>
              </a:rPr>
              <a:t>tkinter</a:t>
            </a:r>
            <a:r>
              <a:rPr lang="de-DE" sz="1600" dirty="0">
                <a:latin typeface="Bosch Office Sans"/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448</Words>
  <Application>Microsoft Office PowerPoint</Application>
  <PresentationFormat>Bildschirmpräsentation (16:9)</PresentationFormat>
  <Paragraphs>79</Paragraphs>
  <Slides>15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1" baseType="lpstr">
      <vt:lpstr>Arial</vt:lpstr>
      <vt:lpstr>Bosch Office Sans</vt:lpstr>
      <vt:lpstr>Calibri</vt:lpstr>
      <vt:lpstr>Tahoma</vt:lpstr>
      <vt:lpstr>Wingdings</vt:lpstr>
      <vt:lpstr>Office Theme</vt:lpstr>
      <vt:lpstr>PowerPoint-Präsentation</vt:lpstr>
      <vt:lpstr>PowerPoint-Präsentation</vt:lpstr>
      <vt:lpstr>PowerPoint-Präsentation</vt:lpstr>
      <vt:lpstr>App-Entwicklung mit      und Tower Server Anbindung für Betriebssysteme wie IOS, Android, Windows oder auch Web </vt:lpstr>
      <vt:lpstr>PowerPoint-Präsentation</vt:lpstr>
      <vt:lpstr>PowerPoint-Präsentation</vt:lpstr>
      <vt:lpstr>Firma Robert Bosch GmbH, Werk Bühl Herstellung von Elektro-Kleinmotoren   Thema: Erkennung von Anomalien in Messdaten von hochautomatischen Produktionslinien und Ursachenanalyse -&gt; Unrundheitsmessung in Prüfstation</vt:lpstr>
      <vt:lpstr>PowerPoint-Präsentation</vt:lpstr>
      <vt:lpstr>1. YOLO-Algorithmus (You Only Look Once)  zur Lokalisierung im 2D-Raum (Bild) -&gt; Umrechnung in 3D-Position 2. Programmstart ohne auf Objekt  zu klicken, da steril </vt:lpstr>
      <vt:lpstr>Heart Attack</vt:lpstr>
      <vt:lpstr>Hackathon</vt:lpstr>
      <vt:lpstr>Kartenspiel Ramsch</vt:lpstr>
      <vt:lpstr>Film/Serien Empfehlungen</vt:lpstr>
      <vt:lpstr>Buch/Film/Serie Verwaltung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Vorstellung AI-Projekte</dc:title>
  <cp:lastModifiedBy>Hendrik Stolzke</cp:lastModifiedBy>
  <cp:revision>200</cp:revision>
  <dcterms:created xsi:type="dcterms:W3CDTF">2024-03-10T09:51:15Z</dcterms:created>
  <dcterms:modified xsi:type="dcterms:W3CDTF">2026-08-14T10:35:15Z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2024-03-10T00:00:00Z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2024-03-10T00:00:00Z</vt:filetime>
  </property>
  <property fmtid="{D5CDD505-2E9C-101B-9397-08002B2CF9AE}" pid="5" name="Producer">
    <vt:lpwstr>Microsoft® PowerPoint® LTSC</vt:lpwstr>
  </property>
</Properties>
</file>